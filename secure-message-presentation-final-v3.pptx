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 snapToObjects="1">
      <p:cViewPr varScale="1">
        <p:scale>
          <a:sx n="161" d="100"/>
          <a:sy n="161" d="100"/>
        </p:scale>
        <p:origin x="116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DISCRETE MATHEMATICS PROJECT /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1033271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>
                <a:solidFill>
                  <a:srgbClr val="EAF5F3"/>
                </a:solidFill>
                <a:latin typeface="Consolas"/>
              </a:rPr>
              <a:t>SECURE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167335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58E0CB"/>
                </a:solidFill>
                <a:latin typeface="Consolas"/>
              </a:rPr>
              <a:t>MESSAGE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2514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EAF5F3"/>
                </a:solidFill>
                <a:latin typeface="Malgun Gothic"/>
              </a:rPr>
              <a:t>수학으로 설계한 안전한 메시지 전송 웹앱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309067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허프만 트리 · AES-GCM · XOR 학습 모드 · 바이트 분포 분석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555480" y="1600200"/>
            <a:ext cx="1280160" cy="100584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189719" y="2606040"/>
            <a:ext cx="1645921" cy="1097280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89719" y="3703320"/>
            <a:ext cx="1554481" cy="1005839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372600" y="4709159"/>
            <a:ext cx="1371600" cy="1005841"/>
          </a:xfrm>
          <a:prstGeom prst="line">
            <a:avLst/>
          </a:prstGeom>
          <a:ln w="2540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235440" y="1280160"/>
            <a:ext cx="640080" cy="64008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142097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입력</a:t>
            </a:r>
          </a:p>
        </p:txBody>
      </p:sp>
      <p:sp>
        <p:nvSpPr>
          <p:cNvPr id="54" name="Oval 53"/>
          <p:cNvSpPr/>
          <p:nvPr/>
        </p:nvSpPr>
        <p:spPr>
          <a:xfrm>
            <a:off x="10515600" y="2286000"/>
            <a:ext cx="640080" cy="64008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515600" y="242681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압축</a:t>
            </a:r>
          </a:p>
        </p:txBody>
      </p:sp>
      <p:sp>
        <p:nvSpPr>
          <p:cNvPr id="56" name="Oval 55"/>
          <p:cNvSpPr/>
          <p:nvPr/>
        </p:nvSpPr>
        <p:spPr>
          <a:xfrm>
            <a:off x="8869680" y="3383280"/>
            <a:ext cx="640080" cy="640080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869680" y="352409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AES</a:t>
            </a:r>
          </a:p>
        </p:txBody>
      </p:sp>
      <p:sp>
        <p:nvSpPr>
          <p:cNvPr id="58" name="Oval 57"/>
          <p:cNvSpPr/>
          <p:nvPr/>
        </p:nvSpPr>
        <p:spPr>
          <a:xfrm>
            <a:off x="10424160" y="4389120"/>
            <a:ext cx="640080" cy="64008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424160" y="452993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.enc</a:t>
            </a:r>
          </a:p>
        </p:txBody>
      </p:sp>
      <p:sp>
        <p:nvSpPr>
          <p:cNvPr id="60" name="Oval 59"/>
          <p:cNvSpPr/>
          <p:nvPr/>
        </p:nvSpPr>
        <p:spPr>
          <a:xfrm>
            <a:off x="9052560" y="5394960"/>
            <a:ext cx="640080" cy="64008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52560" y="5535777"/>
            <a:ext cx="640080" cy="288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EAF5F3"/>
                </a:solidFill>
                <a:latin typeface="Malgun Gothic"/>
              </a:rPr>
              <a:t>복원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4944" y="4892040"/>
            <a:ext cx="5074920" cy="8686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0120" y="512064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핵심 원칙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39" y="5093208"/>
            <a:ext cx="356616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EAF5F3"/>
                </a:solidFill>
                <a:latin typeface="Malgun Gothic"/>
              </a:rPr>
              <a:t>원본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파일과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비밀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키는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브라우저에서만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처리</a:t>
            </a:r>
            <a:endParaRPr sz="1400" b="1" dirty="0">
              <a:solidFill>
                <a:srgbClr val="EAF5F3"/>
              </a:solidFill>
              <a:latin typeface="Malgun Gothic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PURPOSE &amp; REAL-WORLD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개발 목적과 실제 사례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이산수학 원리를 직접 구현하고, 실제 보안 기술과의 차이를 확인합니다.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286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2487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2441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개발 목적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2734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압축·암호화·복호화 원리를 웹앱에서 직접 확인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286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2487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2441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실제 압축 사례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2734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ZIP·PNG의 DEFLATE는 허프만 코딩을 활용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429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3630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3584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실제 암호 사례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8760" y="3877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HTTPS·파일 보호에는 AES-GCM 같은 인증 암호 사용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342900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46520" y="363016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35844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교육용 구현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3877056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브라우저에서 25MB 이하 파일의 처리 과정을 시각화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4579602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4399" y="4780770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Consolas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8760" y="473505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실제 서비스와 차이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08760" y="5027658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로그인·권한·자동 삭제·악성 파일 검사 등이 추가로 필요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01 / PROBLEM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메시지를 “안전하게” 전송하려면?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기밀성·무결성·용량을 함께 고려하고, 암호화 전후 데이터를 분석해야 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4671" y="2496312"/>
            <a:ext cx="54864" cy="191109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" y="257860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CHALLENGE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2862072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용량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291839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파일 크기가 크면 저장·전송 효율이 떨어진다.
→ 빈도 기반 무손실 압축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52544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17136" y="2496312"/>
            <a:ext cx="54864" cy="191109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18304" y="257860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CHALLENGE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304" y="2862072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기밀성·무결성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8304" y="3291839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전송 중 내용을 읽거나 바꾸지 못해야 한다.
→ PBKDF2 + AES-GCM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5008" y="2331720"/>
            <a:ext cx="3474720" cy="224028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29600" y="2496312"/>
            <a:ext cx="54864" cy="191109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30768" y="257860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CHALLENGE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2862072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분석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8" y="3291839"/>
            <a:ext cx="2880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암호화 전후의 바이트 분포와
XOR 학습 결과를 비교한다.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57400" y="5029200"/>
            <a:ext cx="8092440" cy="594360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86000" y="5230368"/>
            <a:ext cx="7635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목표: 이산수학의 트리 · 부울대수 · 바이트 분포를 실제 웹앱에 연결한다.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7358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02 /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데이터는 이렇게 이동합니다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브라우저에서 암호화한 .enc 패키지만 선택적으로 공유 서버로 전송합니다.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40664" y="272491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0664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원본 입력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텍스트 / 파일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468879" y="3273552"/>
            <a:ext cx="393193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898648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044952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44952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1528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허프만 압축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1528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빈도표와 트리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773168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202936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349240" y="2724912"/>
            <a:ext cx="329184" cy="329184"/>
          </a:xfrm>
          <a:prstGeom prst="ellipse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49240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5816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키 유도·암호화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85816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PBKDF2 + AES-GCM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077456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507224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653528" y="2724912"/>
            <a:ext cx="329184" cy="329184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53528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90104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.enc 패키지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0104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헤더 + 인증 암호문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381744" y="3273552"/>
            <a:ext cx="393192" cy="0"/>
          </a:xfrm>
          <a:prstGeom prst="line">
            <a:avLst/>
          </a:prstGeom>
          <a:ln w="2540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811512" y="2560320"/>
            <a:ext cx="1874519" cy="141732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957816" y="2724912"/>
            <a:ext cx="329184" cy="329184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957816" y="2797332"/>
            <a:ext cx="329184" cy="14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94392" y="318211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AF5F3"/>
                </a:solidFill>
                <a:latin typeface="Malgun Gothic"/>
              </a:rPr>
              <a:t>복호화·복원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94392" y="352958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6C3C7"/>
                </a:solidFill>
                <a:latin typeface="Malgun Gothic"/>
              </a:rPr>
              <a:t>인증 검증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9808" y="4617720"/>
            <a:ext cx="4892040" cy="1005840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87552" y="48463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로컬 영역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8408" y="512064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EAF5F3"/>
                </a:solidFill>
                <a:latin typeface="Malgun Gothic"/>
              </a:rPr>
              <a:t>원본</a:t>
            </a:r>
            <a:r>
              <a:rPr sz="1500" b="1" dirty="0">
                <a:solidFill>
                  <a:srgbClr val="EAF5F3"/>
                </a:solidFill>
                <a:latin typeface="Malgun Gothic"/>
              </a:rPr>
              <a:t> · </a:t>
            </a:r>
            <a:r>
              <a:rPr sz="1500" b="1" dirty="0" err="1">
                <a:solidFill>
                  <a:srgbClr val="EAF5F3"/>
                </a:solidFill>
                <a:latin typeface="Malgun Gothic"/>
              </a:rPr>
              <a:t>비밀</a:t>
            </a:r>
            <a:r>
              <a:rPr sz="1500" b="1" dirty="0">
                <a:solidFill>
                  <a:srgbClr val="EAF5F3"/>
                </a:solidFill>
                <a:latin typeface="Malgun Gothic"/>
              </a:rPr>
              <a:t> 키 · </a:t>
            </a:r>
            <a:r>
              <a:rPr sz="1500" b="1" dirty="0" err="1">
                <a:solidFill>
                  <a:srgbClr val="EAF5F3"/>
                </a:solidFill>
                <a:latin typeface="Malgun Gothic"/>
              </a:rPr>
              <a:t>압축</a:t>
            </a:r>
            <a:r>
              <a:rPr sz="1500" b="1" dirty="0">
                <a:solidFill>
                  <a:srgbClr val="EAF5F3"/>
                </a:solidFill>
                <a:latin typeface="Malgun Gothic"/>
              </a:rPr>
              <a:t> · </a:t>
            </a:r>
            <a:r>
              <a:rPr sz="1500" b="1" dirty="0" err="1">
                <a:solidFill>
                  <a:srgbClr val="EAF5F3"/>
                </a:solidFill>
                <a:latin typeface="Malgun Gothic"/>
              </a:rPr>
              <a:t>복호화</a:t>
            </a:r>
            <a:endParaRPr sz="15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989320" y="4617720"/>
            <a:ext cx="5349240" cy="1005840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36208" y="484632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2C85B"/>
                </a:solidFill>
                <a:latin typeface="Consolas"/>
              </a:rPr>
              <a:t>공유 선택 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22493" y="5138928"/>
            <a:ext cx="366979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 err="1">
                <a:solidFill>
                  <a:srgbClr val="EAF5F3"/>
                </a:solidFill>
                <a:latin typeface="Malgun Gothic"/>
              </a:rPr>
              <a:t>Supabase에는</a:t>
            </a:r>
            <a:r>
              <a:rPr sz="1300" b="1" dirty="0">
                <a:solidFill>
                  <a:srgbClr val="EAF5F3"/>
                </a:solidFill>
                <a:latin typeface="Malgun Gothic"/>
              </a:rPr>
              <a:t> .enc </a:t>
            </a:r>
            <a:r>
              <a:rPr sz="1300" b="1" dirty="0" err="1">
                <a:solidFill>
                  <a:srgbClr val="EAF5F3"/>
                </a:solidFill>
                <a:latin typeface="Malgun Gothic"/>
              </a:rPr>
              <a:t>암호문과</a:t>
            </a:r>
            <a:r>
              <a:rPr sz="13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EAF5F3"/>
                </a:solidFill>
                <a:latin typeface="Malgun Gothic"/>
              </a:rPr>
              <a:t>최소</a:t>
            </a:r>
            <a:r>
              <a:rPr sz="13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EAF5F3"/>
                </a:solidFill>
                <a:latin typeface="Malgun Gothic"/>
              </a:rPr>
              <a:t>메타데이터만</a:t>
            </a:r>
            <a:endParaRPr sz="1300" b="1" dirty="0">
              <a:solidFill>
                <a:srgbClr val="EAF5F3"/>
              </a:solidFill>
              <a:latin typeface="Malgun Gothic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3958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03 / 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허프만 코딩: 빈도가 트리 구조를 결정한다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최소 힙으로 빈도가 가장 작은 두 노드를 반복 결합해 이진 트리를 만듭니다.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600200" y="2331720"/>
            <a:ext cx="1051560" cy="82296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52828" y="25968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51760" y="2331720"/>
            <a:ext cx="1143000" cy="82296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225316" y="25968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00584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229868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60020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030065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3246120" y="3154680"/>
            <a:ext cx="54864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447288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2C85B"/>
                </a:solidFill>
                <a:latin typeface="Consolas"/>
              </a:rPr>
              <a:t>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794760" y="3154680"/>
            <a:ext cx="594360" cy="1005840"/>
          </a:xfrm>
          <a:prstGeom prst="line">
            <a:avLst/>
          </a:prstGeom>
          <a:ln w="1905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173167" y="35112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F2C85B"/>
                </a:solidFill>
                <a:latin typeface="Consolas"/>
              </a:rPr>
              <a:t>1</a:t>
            </a:r>
          </a:p>
        </p:txBody>
      </p:sp>
      <p:sp>
        <p:nvSpPr>
          <p:cNvPr id="59" name="Oval 58"/>
          <p:cNvSpPr/>
          <p:nvPr/>
        </p:nvSpPr>
        <p:spPr>
          <a:xfrm>
            <a:off x="2404872" y="2084831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04872" y="21934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10</a:t>
            </a:r>
          </a:p>
        </p:txBody>
      </p:sp>
      <p:sp>
        <p:nvSpPr>
          <p:cNvPr id="61" name="Oval 60"/>
          <p:cNvSpPr/>
          <p:nvPr/>
        </p:nvSpPr>
        <p:spPr>
          <a:xfrm>
            <a:off x="1353312" y="2907792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353312" y="301642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63" name="Oval 62"/>
          <p:cNvSpPr/>
          <p:nvPr/>
        </p:nvSpPr>
        <p:spPr>
          <a:xfrm>
            <a:off x="3547872" y="2907792"/>
            <a:ext cx="493776" cy="493776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47872" y="301642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6</a:t>
            </a:r>
          </a:p>
        </p:txBody>
      </p:sp>
      <p:sp>
        <p:nvSpPr>
          <p:cNvPr id="65" name="Oval 64"/>
          <p:cNvSpPr/>
          <p:nvPr/>
        </p:nvSpPr>
        <p:spPr>
          <a:xfrm>
            <a:off x="75895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8952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A:1</a:t>
            </a:r>
          </a:p>
        </p:txBody>
      </p:sp>
      <p:sp>
        <p:nvSpPr>
          <p:cNvPr id="67" name="Oval 66"/>
          <p:cNvSpPr/>
          <p:nvPr/>
        </p:nvSpPr>
        <p:spPr>
          <a:xfrm>
            <a:off x="194767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947672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B:3</a:t>
            </a:r>
          </a:p>
        </p:txBody>
      </p:sp>
      <p:sp>
        <p:nvSpPr>
          <p:cNvPr id="69" name="Oval 68"/>
          <p:cNvSpPr/>
          <p:nvPr/>
        </p:nvSpPr>
        <p:spPr>
          <a:xfrm>
            <a:off x="2999232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999232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C:2</a:t>
            </a:r>
          </a:p>
        </p:txBody>
      </p:sp>
      <p:sp>
        <p:nvSpPr>
          <p:cNvPr id="71" name="Oval 70"/>
          <p:cNvSpPr/>
          <p:nvPr/>
        </p:nvSpPr>
        <p:spPr>
          <a:xfrm>
            <a:off x="4142231" y="3913631"/>
            <a:ext cx="493776" cy="493776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42231" y="4022262"/>
            <a:ext cx="493776" cy="222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71924"/>
                </a:solidFill>
                <a:latin typeface="Malgun Gothic"/>
              </a:rPr>
              <a:t>D:4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577840" y="24231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742431" y="2587752"/>
            <a:ext cx="54864" cy="20482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943600" y="267004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ALGORITHM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29535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구성 과정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0" y="3383280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1. 바이트 빈도 계산
2. 최소 힙에 삽입
3. 최소 두 노드 결합
4. 루트까지 반복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03920" y="24231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668512" y="2587752"/>
            <a:ext cx="54864" cy="20482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869680" y="267004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RESULT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295351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특징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3383280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자주 등장하는 바이트
→ 짧은 비트열
모든 코드가 다른 코드의
접두어가 되지 않음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330952"/>
            <a:ext cx="10469880" cy="475488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31520" y="5478483"/>
            <a:ext cx="100126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 err="1">
                <a:solidFill>
                  <a:srgbClr val="C9F3EB"/>
                </a:solidFill>
                <a:latin typeface="Consolas"/>
              </a:rPr>
              <a:t>표시된 트리 예시: A = 00, B = 01, C = 10, D = 11 → 경계 표시 없이 복원 가능</a:t>
            </a:r>
            <a:endParaRPr sz="1200" b="0" dirty="0">
              <a:solidFill>
                <a:srgbClr val="C9F3EB"/>
              </a:solidFill>
              <a:latin typeface="Consolas"/>
            </a:endParaRPr>
          </a:p>
        </p:txBody>
      </p:sp>
      <p:cxnSp>
        <p:nvCxnSpPr>
          <p:cNvPr id="85" name="Connector 8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03 / CRYPTOGRAPHY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기본은 AES-GCM, XOR은 원리 학습용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실제 패키지는 PBKDF2-SHA-256으로 키를 유도한 뒤 AES-256-GCM으로 인증 암호화합니다.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2331720"/>
            <a:ext cx="10561320" cy="594356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" y="2532888"/>
            <a:ext cx="10104120" cy="393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A ⊕ K ⊕ K = A    ·    (A ⊕ K) ⊕ K = 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3238998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057400" y="3339582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2C85B"/>
                </a:solidFill>
                <a:latin typeface="Malgun Gothic"/>
              </a:rPr>
              <a:t>비밀번호 + 새 salt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3330438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AF5F3"/>
                </a:solidFill>
                <a:latin typeface="Consolas"/>
              </a:rPr>
              <a:t>PBKDF2-SHA-256  (250,000회)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9183" y="3836448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58E0CB"/>
                </a:solidFill>
                <a:latin typeface="Consolas"/>
              </a:rPr>
              <a:t>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15084" y="4346175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57400" y="4446759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8E0CB"/>
                </a:solidFill>
                <a:latin typeface="Malgun Gothic"/>
              </a:rPr>
              <a:t>새 IV + 압축 데이터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4437615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EAF5F3"/>
                </a:solidFill>
                <a:latin typeface="Consolas"/>
              </a:rPr>
              <a:t>AES-256-GCM + </a:t>
            </a:r>
            <a:r>
              <a:rPr sz="1400" b="0" dirty="0" err="1">
                <a:solidFill>
                  <a:srgbClr val="EAF5F3"/>
                </a:solidFill>
                <a:latin typeface="Consolas"/>
              </a:rPr>
              <a:t>헤더</a:t>
            </a:r>
            <a:r>
              <a:rPr sz="1400" b="0" dirty="0">
                <a:solidFill>
                  <a:srgbClr val="EAF5F3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EAF5F3"/>
                </a:solidFill>
                <a:latin typeface="Consolas"/>
              </a:rPr>
              <a:t>인증</a:t>
            </a:r>
            <a:endParaRPr sz="1400" b="0" dirty="0">
              <a:solidFill>
                <a:srgbClr val="EAF5F3"/>
              </a:solidFill>
              <a:latin typeface="Consola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47936" y="4949066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dirty="0">
                <a:solidFill>
                  <a:srgbClr val="58E0CB"/>
                </a:solidFill>
                <a:latin typeface="Consolas"/>
              </a:rPr>
              <a:t>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28800" y="5409800"/>
            <a:ext cx="8458200" cy="429768"/>
          </a:xfrm>
          <a:prstGeom prst="roundRect">
            <a:avLst>
              <a:gd name="adj" fmla="val 8000"/>
            </a:avLst>
          </a:prstGeom>
          <a:solidFill>
            <a:srgbClr val="0C2734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057400" y="5510384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FF8977"/>
                </a:solidFill>
                <a:latin typeface="Malgun Gothic"/>
              </a:rPr>
              <a:t>SME2 </a:t>
            </a:r>
            <a:r>
              <a:rPr sz="1100" b="1" dirty="0" err="1">
                <a:solidFill>
                  <a:srgbClr val="FF8977"/>
                </a:solidFill>
                <a:latin typeface="Malgun Gothic"/>
              </a:rPr>
              <a:t>암호문</a:t>
            </a:r>
            <a:endParaRPr sz="1100" b="1" dirty="0">
              <a:solidFill>
                <a:srgbClr val="FF8977"/>
              </a:solidFill>
              <a:latin typeface="Malgun Gothic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572000" y="5501240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EAF5F3"/>
                </a:solidFill>
                <a:latin typeface="Consolas"/>
              </a:rPr>
              <a:t>변조 시 복호화 거부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609176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XOR 학습 모드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6064332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A6C3C7"/>
                </a:solidFill>
                <a:latin typeface="Malgun Gothic"/>
              </a:rPr>
              <a:t>A ⊕ K ⊕ K = A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성질을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관찰하기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위한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호환용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 SME1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모드이며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, 새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파일의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기본값은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A6C3C7"/>
                </a:solidFill>
                <a:latin typeface="Malgun Gothic"/>
              </a:rPr>
              <a:t>아닙니다</a:t>
            </a:r>
            <a:r>
              <a:rPr sz="1200" b="0" dirty="0">
                <a:solidFill>
                  <a:srgbClr val="A6C3C7"/>
                </a:solidFill>
                <a:latin typeface="Malgun Gothic"/>
              </a:rPr>
              <a:t>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600200" y="484632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44836" y="-59436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04 / 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SME2 .enc 패키지와 인증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복원 정보와 암호문을 하나로 전달하며, 헤더도 AAD로 인증해 변경을 거부합니다.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0392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8E0CB"/>
                </a:solidFill>
                <a:latin typeface="Consolas"/>
              </a:rPr>
              <a:t>SME2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식별자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53512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18104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C85B"/>
                </a:solidFill>
                <a:latin typeface="Consolas"/>
              </a:rPr>
              <a:t>이름·MIME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18104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원본 정보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21224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85816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8E0CB"/>
                </a:solidFill>
                <a:latin typeface="Consolas"/>
              </a:rPr>
              <a:t>빈도표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85816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허프만 트리 재구성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88936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53527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8977"/>
                </a:solidFill>
                <a:latin typeface="Consolas"/>
              </a:rPr>
              <a:t>salt · IV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7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PBKDF2/AES-GCM 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56648" y="2514600"/>
            <a:ext cx="2084831" cy="11430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21240" y="2743200"/>
            <a:ext cx="1691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C85B"/>
                </a:solidFill>
                <a:latin typeface="Consolas"/>
              </a:rPr>
              <a:t>암호문 + 태그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1240" y="3099816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6C3C7"/>
                </a:solidFill>
                <a:latin typeface="Malgun Gothic"/>
              </a:rPr>
              <a:t>변조 검출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5241965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AF5F3"/>
                </a:solidFill>
                <a:latin typeface="Malgun Gothic"/>
              </a:rPr>
              <a:t>복호화 검증 흐름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43584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AES-GCM 인증 복호화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063239" y="5982629"/>
            <a:ext cx="411481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520439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520439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32504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허프만 압축 해제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52159" y="5982629"/>
            <a:ext cx="411481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6309359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09359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21423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원본 바이트 복원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641080" y="5982629"/>
            <a:ext cx="411479" cy="0"/>
          </a:xfrm>
          <a:prstGeom prst="line">
            <a:avLst/>
          </a:prstGeom>
          <a:ln w="19050">
            <a:solidFill>
              <a:srgbClr val="F2C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098280" y="5790605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098280" y="5875095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0344" y="5854613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F5F3"/>
                </a:solidFill>
                <a:latin typeface="Malgun Gothic"/>
              </a:rPr>
              <a:t>암호문·헤더·키 오류 시 즉시 거부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05 / 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웹앱에서 직접 확인할 수 있는 기능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입력-처리-시각화-공유가 하나의 흐름으로 연결됩니다.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2840" y="2931621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허프만 트리와 압축 전후 크기 표시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680960" y="3966477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A6C3C7"/>
                </a:solidFill>
                <a:latin typeface="Malgun Gothic"/>
              </a:rPr>
              <a:t>암호화 전후·XOR 학습용 바이트 분포 비교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85800" y="224338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309360" y="224338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85800" y="334066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309360" y="3340669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3502152" y="4437948"/>
            <a:ext cx="5166360" cy="101791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50392" y="2496312"/>
            <a:ext cx="54864" cy="512064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1560" y="257860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01 / FEATURE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825588"/>
            <a:ext cx="4572000" cy="420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암호화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08017" y="2862072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A6C3C7"/>
                </a:solidFill>
                <a:latin typeface="Malgun Gothic"/>
              </a:rPr>
              <a:t>PBKDF2 + AES-GCM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기본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, 25MB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제한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, .enc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다운로드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73952" y="2496312"/>
            <a:ext cx="54864" cy="51206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0" y="257860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02 / FEATURE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286207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 err="1">
                <a:solidFill>
                  <a:srgbClr val="EAF5F3"/>
                </a:solidFill>
                <a:latin typeface="Malgun Gothic"/>
              </a:rPr>
              <a:t>복호화·실패 검증</a:t>
            </a:r>
            <a:endParaRPr sz="17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850392" y="3593592"/>
            <a:ext cx="54864" cy="512064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1560" y="3675887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03 / FEATURE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395935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허프만 시각화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85505" y="4017026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트리·코드표와 압축 전후 크기 표시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473952" y="3593592"/>
            <a:ext cx="54864" cy="512064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75120" y="3675887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04 / FEATURE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395935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보안 분석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66744" y="4690871"/>
            <a:ext cx="54864" cy="512064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867912" y="4773167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05 / FEATURE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67912" y="5056631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공유 보관함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5102430"/>
            <a:ext cx="4572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Supabase에 .enc 암호문만 업로드·수신</a:t>
            </a:r>
            <a:endParaRPr sz="1150" b="0" dirty="0">
              <a:solidFill>
                <a:srgbClr val="A6C3C7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06 /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시연은 90초 안에 이렇게 진행합니다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짧은 문장 하나로 압축, 암호화, 공유, 복호화까지 보여 줄 수 있습니다.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" y="2240280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2324770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227685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입력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2295144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“이산수학으로 보낸 비밀 메시지”와 비밀번호 입력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60704" y="2633472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68680" y="2953512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8680" y="3038002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299008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암호화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3008376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트리 생성, PBKDF2 키 유도, AES-GCM 인증 암호화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60704" y="3346704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68680" y="3666744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680" y="3751234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3039" y="3703320"/>
            <a:ext cx="1600793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EAF5F3"/>
                </a:solidFill>
                <a:latin typeface="Malgun Gothic"/>
              </a:rPr>
              <a:t>다운로드</a:t>
            </a:r>
            <a:r>
              <a:rPr sz="1400" b="1" dirty="0">
                <a:solidFill>
                  <a:srgbClr val="EAF5F3"/>
                </a:solidFill>
                <a:latin typeface="Malgun Gothic"/>
              </a:rPr>
              <a:t>/</a:t>
            </a:r>
            <a:r>
              <a:rPr sz="1400" b="1" dirty="0" err="1">
                <a:solidFill>
                  <a:srgbClr val="EAF5F3"/>
                </a:solidFill>
                <a:latin typeface="Malgun Gothic"/>
              </a:rPr>
              <a:t>업로드</a:t>
            </a:r>
            <a:endParaRPr sz="14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25336" y="3721607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dirty="0">
                <a:solidFill>
                  <a:srgbClr val="A6C3C7"/>
                </a:solidFill>
                <a:latin typeface="Malgun Gothic"/>
              </a:rPr>
              <a:t>SME2 .enc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파일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생성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또는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Supabase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보관함</a:t>
            </a:r>
            <a:r>
              <a:rPr sz="110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A6C3C7"/>
                </a:solidFill>
                <a:latin typeface="Malgun Gothic"/>
              </a:rPr>
              <a:t>업로드</a:t>
            </a:r>
            <a:endParaRPr sz="1100" b="0" dirty="0">
              <a:solidFill>
                <a:srgbClr val="A6C3C7"/>
              </a:solidFill>
              <a:latin typeface="Malgun Gothic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060704" y="4059935"/>
            <a:ext cx="0" cy="274321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68680" y="4379976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4464466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3040" y="441655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실패 검증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0" y="4434840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틀린 키 또는 변조 파일은 AES-GCM 인증 실패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60704" y="4773168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68680" y="5093208"/>
            <a:ext cx="384048" cy="384048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68680" y="5177698"/>
            <a:ext cx="384048" cy="172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71924"/>
                </a:solidFill>
                <a:latin typeface="Malgun Gothic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3040" y="512978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AF5F3"/>
                </a:solidFill>
                <a:latin typeface="Malgun Gothic"/>
              </a:rPr>
              <a:t>복호화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0" y="5148072"/>
            <a:ext cx="79552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6C3C7"/>
                </a:solidFill>
                <a:latin typeface="Malgun Gothic"/>
              </a:rPr>
              <a:t>같은 키로 복원, 인증 검증 통과 확인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60704" y="5486400"/>
            <a:ext cx="0" cy="274320"/>
          </a:xfrm>
          <a:prstGeom prst="line">
            <a:avLst/>
          </a:prstGeom>
          <a:ln w="1270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07 /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EAF5F3"/>
                </a:solidFill>
                <a:latin typeface="Malgun Gothic"/>
              </a:rPr>
              <a:t>보호되는 것과 남아 있는 한계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검증된 인증 암호를 적용해도 공개 공유 환경의 접근 제어 문제는 별도로 남습니다.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50392" y="2587752"/>
            <a:ext cx="54864" cy="20482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1560" y="267004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WHAT IS PROTECTED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95351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보호되는 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" y="3383280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원본 파일과 비밀 키는
브라우저 내부에서 처리
서버에는 .enc 암호문과
최소 메타데이터만 저장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53712" y="2587752"/>
            <a:ext cx="54864" cy="204825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0" y="267004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DEFAULT SECURITY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95351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기본 암호화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3383280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새 salt + PBKDF2 250,000회
새 IV + AES-256-GCM
헤더와 암호문의 변조를 검출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2423160"/>
            <a:ext cx="3429000" cy="237744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57031" y="2587752"/>
            <a:ext cx="54864" cy="20482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58200" y="2670048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REMAINING LIMITS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95351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공유 환경의 한계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3383280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A6C3C7"/>
                </a:solidFill>
                <a:latin typeface="Malgun Gothic"/>
              </a:rPr>
              <a:t>공개 보관함 정책에서는
접근 제어가 부족할 수 있음
권한 관리·삭제·감사 로그 필요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" y="5303520"/>
            <a:ext cx="9738360" cy="530352"/>
          </a:xfrm>
          <a:prstGeom prst="roundRect">
            <a:avLst>
              <a:gd name="adj" fmla="val 8000"/>
            </a:avLst>
          </a:prstGeom>
          <a:solidFill>
            <a:srgbClr val="08151D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463040" y="5504688"/>
            <a:ext cx="9281160" cy="164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9F3EB"/>
                </a:solidFill>
                <a:latin typeface="Consolas"/>
              </a:rPr>
              <a:t>결론: “암호화했다”가 아니라 “어떤 위협을 막고, 무엇이 남는가”를 함께 설명한다.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33261" y="2000003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62352" y="2971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-4355287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-35428" y="3786911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SECURE MESSAGE / DISCRETE MATHEMATICS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71323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8E0CB"/>
                </a:solidFill>
                <a:latin typeface="Consolas"/>
              </a:rPr>
              <a:t>08 / FUTURE 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987552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900" b="1" dirty="0">
                <a:solidFill>
                  <a:srgbClr val="EAF5F3"/>
                </a:solidFill>
                <a:latin typeface="Malgun Gothic"/>
              </a:rPr>
              <a:t>향후 개선 - 다익스트라로 전송 경로 최적화</a:t>
            </a:r>
            <a:endParaRPr sz="29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6928" y="171907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C3C7"/>
                </a:solidFill>
                <a:latin typeface="Malgun Gothic"/>
              </a:rPr>
              <a:t>현재 웹앱에는 미구현이며, 서버·연결·비용을 그래프로 모델링해 확장할 수 있습니다.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1371600" y="2442743"/>
            <a:ext cx="1691639" cy="1280161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052828" y="269877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71600" y="3722904"/>
            <a:ext cx="1783079" cy="73152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098548" y="3704615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20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063239" y="2442743"/>
            <a:ext cx="91440" cy="201168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44368" y="30645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11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063239" y="2305583"/>
            <a:ext cx="2103120" cy="137160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950207" y="2093031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2C85B"/>
                </a:solidFill>
                <a:latin typeface="Consolas"/>
              </a:rPr>
              <a:t>9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3154679" y="2305583"/>
            <a:ext cx="2011680" cy="214884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995928" y="299595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16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154679" y="4362984"/>
            <a:ext cx="2423161" cy="9144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201668" y="402465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66359" y="2305583"/>
            <a:ext cx="411481" cy="205740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207507" y="29502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166359" y="2305583"/>
            <a:ext cx="2423161" cy="914400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13348" y="23787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18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577840" y="3219983"/>
            <a:ext cx="2011680" cy="1143001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19088" y="340743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10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577840" y="3311424"/>
            <a:ext cx="4297680" cy="1051560"/>
          </a:xfrm>
          <a:prstGeom prst="line">
            <a:avLst/>
          </a:prstGeom>
          <a:ln w="1397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562088" y="394004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F2C85B"/>
                </a:solidFill>
                <a:latin typeface="Consolas"/>
              </a:rPr>
              <a:t>23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589520" y="3219983"/>
            <a:ext cx="2286000" cy="91441"/>
          </a:xfrm>
          <a:prstGeom prst="line">
            <a:avLst/>
          </a:prstGeom>
          <a:ln w="33020">
            <a:solidFill>
              <a:srgbClr val="58E0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567928" y="2881656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8</a:t>
            </a:r>
          </a:p>
        </p:txBody>
      </p:sp>
      <p:sp>
        <p:nvSpPr>
          <p:cNvPr id="69" name="Oval 68"/>
          <p:cNvSpPr/>
          <p:nvPr/>
        </p:nvSpPr>
        <p:spPr>
          <a:xfrm>
            <a:off x="1097280" y="3448584"/>
            <a:ext cx="548640" cy="54864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97280" y="356928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나</a:t>
            </a:r>
          </a:p>
        </p:txBody>
      </p:sp>
      <p:sp>
        <p:nvSpPr>
          <p:cNvPr id="71" name="Oval 70"/>
          <p:cNvSpPr/>
          <p:nvPr/>
        </p:nvSpPr>
        <p:spPr>
          <a:xfrm>
            <a:off x="2788920" y="216842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788920" y="228912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서울</a:t>
            </a:r>
          </a:p>
        </p:txBody>
      </p:sp>
      <p:sp>
        <p:nvSpPr>
          <p:cNvPr id="73" name="Oval 72"/>
          <p:cNvSpPr/>
          <p:nvPr/>
        </p:nvSpPr>
        <p:spPr>
          <a:xfrm>
            <a:off x="2880360" y="420782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880360" y="430080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대전</a:t>
            </a:r>
          </a:p>
        </p:txBody>
      </p:sp>
      <p:sp>
        <p:nvSpPr>
          <p:cNvPr id="75" name="Oval 74"/>
          <p:cNvSpPr/>
          <p:nvPr/>
        </p:nvSpPr>
        <p:spPr>
          <a:xfrm>
            <a:off x="4892040" y="203126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92040" y="215196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인천</a:t>
            </a:r>
          </a:p>
        </p:txBody>
      </p:sp>
      <p:sp>
        <p:nvSpPr>
          <p:cNvPr id="77" name="Oval 76"/>
          <p:cNvSpPr/>
          <p:nvPr/>
        </p:nvSpPr>
        <p:spPr>
          <a:xfrm>
            <a:off x="5303520" y="410054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03520" y="420936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부산</a:t>
            </a:r>
          </a:p>
        </p:txBody>
      </p:sp>
      <p:sp>
        <p:nvSpPr>
          <p:cNvPr id="79" name="Oval 78"/>
          <p:cNvSpPr/>
          <p:nvPr/>
        </p:nvSpPr>
        <p:spPr>
          <a:xfrm>
            <a:off x="7315200" y="2945664"/>
            <a:ext cx="548640" cy="548640"/>
          </a:xfrm>
          <a:prstGeom prst="ellipse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315200" y="306636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광주</a:t>
            </a:r>
          </a:p>
        </p:txBody>
      </p:sp>
      <p:sp>
        <p:nvSpPr>
          <p:cNvPr id="81" name="Oval 80"/>
          <p:cNvSpPr/>
          <p:nvPr/>
        </p:nvSpPr>
        <p:spPr>
          <a:xfrm>
            <a:off x="9601200" y="3037104"/>
            <a:ext cx="548640" cy="548640"/>
          </a:xfrm>
          <a:prstGeom prst="ellipse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601200" y="3157804"/>
            <a:ext cx="548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71924"/>
                </a:solidFill>
                <a:latin typeface="Malgun Gothic"/>
              </a:rPr>
              <a:t>상대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" y="5166359"/>
            <a:ext cx="3291840" cy="1188717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1832" y="5330952"/>
            <a:ext cx="54864" cy="448056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43000" y="5413248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MODEL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3000" y="5530455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 err="1">
                <a:solidFill>
                  <a:srgbClr val="EAF5F3"/>
                </a:solidFill>
                <a:latin typeface="Malgun Gothic"/>
              </a:rPr>
              <a:t>시간</a:t>
            </a:r>
            <a:r>
              <a:rPr sz="1700" b="1" dirty="0">
                <a:solidFill>
                  <a:srgbClr val="EAF5F3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EAF5F3"/>
                </a:solidFill>
                <a:latin typeface="Malgun Gothic"/>
              </a:rPr>
              <a:t>가중치</a:t>
            </a:r>
            <a:endParaRPr sz="1700" b="1" dirty="0">
              <a:solidFill>
                <a:srgbClr val="EAF5F3"/>
              </a:solidFill>
              <a:latin typeface="Malgun Gothic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150918" y="5873144"/>
            <a:ext cx="26974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A6C3C7"/>
                </a:solidFill>
                <a:latin typeface="Malgun Gothic"/>
              </a:rPr>
              <a:t>선 위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숫자는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ms.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합이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작은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경로를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선택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34840" y="5166359"/>
            <a:ext cx="3291840" cy="1188717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599431" y="5330952"/>
            <a:ext cx="54864" cy="448056"/>
          </a:xfrm>
          <a:prstGeom prst="rect">
            <a:avLst/>
          </a:prstGeom>
          <a:solidFill>
            <a:srgbClr val="F2C85B"/>
          </a:solidFill>
          <a:ln>
            <a:solidFill>
              <a:srgbClr val="F2C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800600" y="5413248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2C85B"/>
                </a:solidFill>
                <a:latin typeface="Consolas"/>
              </a:rPr>
              <a:t>MODEL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5530455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위험도 가중치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08518" y="5873144"/>
            <a:ext cx="26974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같은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그래프도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비용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정의에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따라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결과가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 </a:t>
            </a:r>
            <a:r>
              <a:rPr sz="1150" b="0" dirty="0" err="1">
                <a:solidFill>
                  <a:srgbClr val="A6C3C7"/>
                </a:solidFill>
                <a:latin typeface="Malgun Gothic"/>
              </a:rPr>
              <a:t>달라짐</a:t>
            </a:r>
            <a:r>
              <a:rPr sz="1150" b="0" dirty="0">
                <a:solidFill>
                  <a:srgbClr val="A6C3C7"/>
                </a:solidFill>
                <a:latin typeface="Malgun Gothic"/>
              </a:rPr>
              <a:t>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092440" y="5166359"/>
            <a:ext cx="3291840" cy="1188717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257031" y="5330952"/>
            <a:ext cx="54864" cy="448056"/>
          </a:xfrm>
          <a:prstGeom prst="rect">
            <a:avLst/>
          </a:prstGeom>
          <a:solidFill>
            <a:srgbClr val="FF8977"/>
          </a:solidFill>
          <a:ln>
            <a:solidFill>
              <a:srgbClr val="FF8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458200" y="5413248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8977"/>
                </a:solidFill>
                <a:latin typeface="Consolas"/>
              </a:rPr>
              <a:t>VISUALIZATION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58200" y="5530455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EAF5F3"/>
                </a:solidFill>
                <a:latin typeface="Malgun Gothic"/>
              </a:rPr>
              <a:t>향후 구현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66118" y="5873144"/>
            <a:ext cx="269748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A6C3C7"/>
                </a:solidFill>
                <a:latin typeface="Malgun Gothic"/>
              </a:rPr>
              <a:t>시간 또는 위험도 기준으로 최저 비용 경로를 탐색.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4173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290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348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669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97864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81560" y="0"/>
            <a:ext cx="0" cy="685800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13258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23317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3375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3434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85216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635508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3175">
            <a:solidFill>
              <a:srgbClr val="0B2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8E0CB"/>
          </a:solidFill>
          <a:ln>
            <a:solidFill>
              <a:srgbClr val="58E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56032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A6C3C7"/>
                </a:solidFill>
                <a:latin typeface="Consolas"/>
              </a:rPr>
              <a:t>CONCLUSION / SECURE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2560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A6C3C7"/>
                </a:solidFill>
                <a:latin typeface="Consolas"/>
              </a:rPr>
              <a:t>SECURE 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10515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58E0CB"/>
                </a:solidFill>
                <a:latin typeface="Consolas"/>
              </a:rPr>
              <a:t>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61488" y="1033271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C85B"/>
                </a:solidFill>
                <a:latin typeface="Consolas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1051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2C85B"/>
                </a:solidFill>
                <a:latin typeface="Consolas"/>
              </a:rPr>
              <a:t>AES-GCM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1033271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8977"/>
                </a:solidFill>
                <a:latin typeface="Consolas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10515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F8977"/>
                </a:solidFill>
                <a:latin typeface="Consolas"/>
              </a:rPr>
              <a:t>XOR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1874519"/>
            <a:ext cx="86868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EAF5F3"/>
                </a:solidFill>
                <a:latin typeface="Malgun Gothic"/>
              </a:rPr>
              <a:t>수학의 구조를
“작동하는 보안 통신”으로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352044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A6C3C7"/>
                </a:solidFill>
                <a:latin typeface="Malgun Gothic"/>
              </a:rPr>
              <a:t>허프만 트리는 효율을, AES-GCM은 기밀성·무결성을, XOR은 부울대수 원리를 설명합니다. 다익스트라는 향후 확장 아이디어입니다.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" y="4572000"/>
            <a:ext cx="10716768" cy="914400"/>
          </a:xfrm>
          <a:prstGeom prst="roundRect">
            <a:avLst>
              <a:gd name="adj" fmla="val 8000"/>
            </a:avLst>
          </a:prstGeom>
          <a:solidFill>
            <a:srgbClr val="103442"/>
          </a:solidFill>
          <a:ln>
            <a:solidFill>
              <a:srgbClr val="2B5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0120" y="48006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8E0CB"/>
                </a:solidFill>
                <a:latin typeface="Consolas"/>
              </a:rPr>
              <a:t>발표 핵심 한 문장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6040" y="4754880"/>
            <a:ext cx="8046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AF5F3"/>
                </a:solidFill>
                <a:latin typeface="Malgun Gothic"/>
              </a:rPr>
              <a:t>“데이터의 표현·변환·보호는 이산수학적 구조로 모델링할 수 있다.”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8E0CB"/>
                </a:solidFill>
                <a:latin typeface="Consolas"/>
              </a:rPr>
              <a:t>THANK YOU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59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928" y="65653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58E0CB"/>
                </a:solidFill>
                <a:latin typeface="Consolas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" y="656539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A6C3C7"/>
                </a:solidFill>
                <a:latin typeface="Malgun Gothic"/>
              </a:rPr>
              <a:t>원본과 비밀 키는 브라우저 밖으로 나가지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1104</Words>
  <Application>Microsoft Office PowerPoint</Application>
  <PresentationFormat>와이드스크린</PresentationFormat>
  <Paragraphs>260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2026-07-29T01:49:32Z</dcterms:modified>
  <cp:category/>
</cp:coreProperties>
</file>