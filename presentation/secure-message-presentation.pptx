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DISCRETE MATHEMATICS PROJECT /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1033271"/>
            <a:ext cx="48463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500" b="1">
                <a:solidFill>
                  <a:srgbClr val="EAF5F3"/>
                </a:solidFill>
                <a:latin typeface="Consolas"/>
              </a:rPr>
              <a:t>SECURE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1673352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58E0CB"/>
                </a:solidFill>
                <a:latin typeface="Consolas"/>
              </a:rPr>
              <a:t>MESSAGE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" y="25146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EAF5F3"/>
                </a:solidFill>
                <a:latin typeface="Malgun Gothic"/>
              </a:rPr>
              <a:t>수학으로 설계한 안전한 메시지 전송 웹앱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" y="309067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C3C7"/>
                </a:solidFill>
                <a:latin typeface="Malgun Gothic"/>
              </a:rPr>
              <a:t>허프만 트리 · AES-GCM · XOR 학습 모드 · 다익스트라 알고리즘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555480" y="1600200"/>
            <a:ext cx="1280160" cy="1005840"/>
          </a:xfrm>
          <a:prstGeom prst="line">
            <a:avLst/>
          </a:prstGeom>
          <a:ln w="2540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9189719" y="2606040"/>
            <a:ext cx="1645921" cy="1097280"/>
          </a:xfrm>
          <a:prstGeom prst="line">
            <a:avLst/>
          </a:prstGeom>
          <a:ln w="2540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189719" y="3703320"/>
            <a:ext cx="1554481" cy="1005839"/>
          </a:xfrm>
          <a:prstGeom prst="line">
            <a:avLst/>
          </a:prstGeom>
          <a:ln w="2540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9372600" y="4709159"/>
            <a:ext cx="1371600" cy="1005841"/>
          </a:xfrm>
          <a:prstGeom prst="line">
            <a:avLst/>
          </a:prstGeom>
          <a:ln w="2540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9235440" y="1280160"/>
            <a:ext cx="640080" cy="640080"/>
          </a:xfrm>
          <a:prstGeom prst="ellipse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35440" y="1420977"/>
            <a:ext cx="64008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EAF5F3"/>
                </a:solidFill>
                <a:latin typeface="Malgun Gothic"/>
              </a:rPr>
              <a:t>입력</a:t>
            </a:r>
          </a:p>
        </p:txBody>
      </p:sp>
      <p:sp>
        <p:nvSpPr>
          <p:cNvPr id="54" name="Oval 53"/>
          <p:cNvSpPr/>
          <p:nvPr/>
        </p:nvSpPr>
        <p:spPr>
          <a:xfrm>
            <a:off x="10515600" y="2286000"/>
            <a:ext cx="640080" cy="640080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5600" y="2426817"/>
            <a:ext cx="64008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EAF5F3"/>
                </a:solidFill>
                <a:latin typeface="Malgun Gothic"/>
              </a:rPr>
              <a:t>압축</a:t>
            </a:r>
          </a:p>
        </p:txBody>
      </p:sp>
      <p:sp>
        <p:nvSpPr>
          <p:cNvPr id="56" name="Oval 55"/>
          <p:cNvSpPr/>
          <p:nvPr/>
        </p:nvSpPr>
        <p:spPr>
          <a:xfrm>
            <a:off x="8869680" y="3383280"/>
            <a:ext cx="640080" cy="640080"/>
          </a:xfrm>
          <a:prstGeom prst="ellipse">
            <a:avLst/>
          </a:prstGeom>
          <a:solidFill>
            <a:srgbClr val="FF8977"/>
          </a:solidFill>
          <a:ln>
            <a:solidFill>
              <a:srgbClr val="FF89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69680" y="3524097"/>
            <a:ext cx="64008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EAF5F3"/>
                </a:solidFill>
                <a:latin typeface="Malgun Gothic"/>
              </a:rPr>
              <a:t>AES</a:t>
            </a:r>
          </a:p>
        </p:txBody>
      </p:sp>
      <p:sp>
        <p:nvSpPr>
          <p:cNvPr id="58" name="Oval 57"/>
          <p:cNvSpPr/>
          <p:nvPr/>
        </p:nvSpPr>
        <p:spPr>
          <a:xfrm>
            <a:off x="10424160" y="4389120"/>
            <a:ext cx="640080" cy="640080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24160" y="4529937"/>
            <a:ext cx="64008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EAF5F3"/>
                </a:solidFill>
                <a:latin typeface="Malgun Gothic"/>
              </a:rPr>
              <a:t>.enc</a:t>
            </a:r>
          </a:p>
        </p:txBody>
      </p:sp>
      <p:sp>
        <p:nvSpPr>
          <p:cNvPr id="60" name="Oval 59"/>
          <p:cNvSpPr/>
          <p:nvPr/>
        </p:nvSpPr>
        <p:spPr>
          <a:xfrm>
            <a:off x="9052560" y="5394960"/>
            <a:ext cx="640080" cy="640080"/>
          </a:xfrm>
          <a:prstGeom prst="ellipse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52560" y="5535777"/>
            <a:ext cx="64008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EAF5F3"/>
                </a:solidFill>
                <a:latin typeface="Malgun Gothic"/>
              </a:rPr>
              <a:t>복원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94944" y="4892040"/>
            <a:ext cx="5074920" cy="86868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0120" y="512064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8E0CB"/>
                </a:solidFill>
                <a:latin typeface="Consolas"/>
              </a:rPr>
              <a:t>핵심 원칙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5093208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5F3"/>
                </a:solidFill>
                <a:latin typeface="Malgun Gothic"/>
              </a:rPr>
              <a:t>원본 파일과 비밀 키는 브라우저에서만 처리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SECURE MESSAGE / DISCRETE MATHEMATICS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71323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8E0CB"/>
                </a:solidFill>
                <a:latin typeface="Consolas"/>
              </a:rPr>
              <a:t>ROADMAP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98755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EAF5F3"/>
                </a:solidFill>
                <a:latin typeface="Malgun Gothic"/>
              </a:rPr>
              <a:t>발표 흐름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171907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C3C7"/>
                </a:solidFill>
                <a:latin typeface="Malgun Gothic"/>
              </a:rPr>
              <a:t>문제 정의부터 수학적 모델, 구현과 한계까지 설명합니다.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2286000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24871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E0CB"/>
                </a:solidFill>
                <a:latin typeface="Consolas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244144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5F3"/>
                </a:solidFill>
                <a:latin typeface="Malgun Gothic"/>
              </a:rPr>
              <a:t>문제와 목표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08760" y="273405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6C3C7"/>
                </a:solidFill>
                <a:latin typeface="Malgun Gothic"/>
              </a:rPr>
              <a:t>왜 보안 전송을 수학적으로 모델링하는가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2286000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6520" y="24871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E0CB"/>
                </a:solidFill>
                <a:latin typeface="Consolas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0" y="244144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5F3"/>
                </a:solidFill>
                <a:latin typeface="Malgun Gothic"/>
              </a:rPr>
              <a:t>전체 구조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80" y="273405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6C3C7"/>
                </a:solidFill>
                <a:latin typeface="Malgun Gothic"/>
              </a:rPr>
              <a:t>입력부터 복호화·공유까지의 데이터 흐름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" y="3429000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36301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E0CB"/>
                </a:solidFill>
                <a:latin typeface="Consolas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8760" y="358444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5F3"/>
                </a:solidFill>
                <a:latin typeface="Malgun Gothic"/>
              </a:rPr>
              <a:t>핵심 개념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08760" y="387705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6C3C7"/>
                </a:solidFill>
                <a:latin typeface="Malgun Gothic"/>
              </a:rPr>
              <a:t>허프만 / AES-GCM / XOR 학습 / 다익스트라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7920" y="3429000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36301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E0CB"/>
                </a:solidFill>
                <a:latin typeface="Consolas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40880" y="358444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5F3"/>
                </a:solidFill>
                <a:latin typeface="Malgun Gothic"/>
              </a:rPr>
              <a:t>구현과 시연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387705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6C3C7"/>
                </a:solidFill>
                <a:latin typeface="Malgun Gothic"/>
              </a:rPr>
              <a:t>웹앱 기능과 검증 과정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456432" y="4572000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85031" y="47731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E0CB"/>
                </a:solidFill>
                <a:latin typeface="Consolas"/>
              </a:rPr>
              <a:t>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79392" y="472744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5F3"/>
                </a:solidFill>
                <a:latin typeface="Malgun Gothic"/>
              </a:rPr>
              <a:t>한계와 확장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79392" y="502005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6C3C7"/>
                </a:solidFill>
                <a:latin typeface="Malgun Gothic"/>
              </a:rPr>
              <a:t>공개 보관함의 한계 및 개선 방향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SECURE MESSAGE / DISCRETE MATHEMATICS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71323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8E0CB"/>
                </a:solidFill>
                <a:latin typeface="Consolas"/>
              </a:rPr>
              <a:t>01 / PROBLEM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98755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EAF5F3"/>
                </a:solidFill>
                <a:latin typeface="Malgun Gothic"/>
              </a:rPr>
              <a:t>메시지를 “안전하게” 전송하려면?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171907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C3C7"/>
                </a:solidFill>
                <a:latin typeface="Malgun Gothic"/>
              </a:rPr>
              <a:t>기밀성만이 아니라 용량, 무결성, 전달 경로까지 함께 고려해야 합니다.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2331720"/>
            <a:ext cx="3474720" cy="224028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" y="2496312"/>
            <a:ext cx="54864" cy="1911096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5840" y="2578608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CHALLENGE 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" y="2862072"/>
            <a:ext cx="2880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용량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3291839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파일 크기가 크면 저장·전송 효율이 떨어진다.
→ 빈도 기반 무손실 압축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52544" y="2331720"/>
            <a:ext cx="3474720" cy="224028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17136" y="2496312"/>
            <a:ext cx="54864" cy="1911096"/>
          </a:xfrm>
          <a:prstGeom prst="rect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18304" y="2578608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CHALLENGE 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18304" y="2862072"/>
            <a:ext cx="2880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기밀성·무결성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18304" y="3291839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전송 중 내용을 읽거나 바꾸지 못해야 한다.
→ PBKDF2 + AES-GCM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65008" y="2331720"/>
            <a:ext cx="3474720" cy="224028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29600" y="2496312"/>
            <a:ext cx="54864" cy="1911096"/>
          </a:xfrm>
          <a:prstGeom prst="rect">
            <a:avLst/>
          </a:prstGeom>
          <a:solidFill>
            <a:srgbClr val="FF8977"/>
          </a:solidFill>
          <a:ln>
            <a:solidFill>
              <a:srgbClr val="FF89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30768" y="2578608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8977"/>
                </a:solidFill>
                <a:latin typeface="Consolas"/>
              </a:rPr>
              <a:t>CHALLENGE 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862072"/>
            <a:ext cx="2880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경로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3291839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같은 데이터라도 비용 기준에 따라
좋은 전송 경로가 달라진다.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057400" y="5029200"/>
            <a:ext cx="8092440" cy="594360"/>
          </a:xfrm>
          <a:prstGeom prst="roundRect">
            <a:avLst>
              <a:gd name="adj" fmla="val 8000"/>
            </a:avLst>
          </a:prstGeom>
          <a:solidFill>
            <a:srgbClr val="08151D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86000" y="5230368"/>
            <a:ext cx="7635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9F3EB"/>
                </a:solidFill>
                <a:latin typeface="Consolas"/>
              </a:rPr>
              <a:t>목표:  이산수학의 트리 · 부울대수 · 그래프를 실제 동작하는 웹앱에 연결한다.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SECURE MESSAGE / DISCRETE MATHEMATICS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71323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8E0CB"/>
                </a:solidFill>
                <a:latin typeface="Consolas"/>
              </a:rPr>
              <a:t>02 / ARCHITECTURE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98755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EAF5F3"/>
                </a:solidFill>
                <a:latin typeface="Malgun Gothic"/>
              </a:rPr>
              <a:t>데이터는 이렇게 이동합니다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171907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C3C7"/>
                </a:solidFill>
                <a:latin typeface="Malgun Gothic"/>
              </a:rPr>
              <a:t>브라우저에서 암호화한 .enc 패키지만 선택적으로 공유 서버로 전송합니다.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2560320"/>
            <a:ext cx="1874519" cy="141732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40664" y="2724912"/>
            <a:ext cx="329184" cy="329184"/>
          </a:xfrm>
          <a:prstGeom prst="ellipse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" y="2797332"/>
            <a:ext cx="329184" cy="148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318211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5F3"/>
                </a:solidFill>
                <a:latin typeface="Malgun Gothic"/>
              </a:rPr>
              <a:t>원본 입력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352958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6C3C7"/>
                </a:solidFill>
                <a:latin typeface="Malgun Gothic"/>
              </a:rPr>
              <a:t>텍스트 / 파일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468879" y="3273552"/>
            <a:ext cx="393193" cy="0"/>
          </a:xfrm>
          <a:prstGeom prst="line">
            <a:avLst/>
          </a:prstGeom>
          <a:ln w="25400">
            <a:solidFill>
              <a:srgbClr val="F2C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2898648" y="2560320"/>
            <a:ext cx="1874519" cy="141732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44952" y="2724912"/>
            <a:ext cx="329184" cy="329184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44952" y="2797332"/>
            <a:ext cx="329184" cy="148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81528" y="318211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5F3"/>
                </a:solidFill>
                <a:latin typeface="Malgun Gothic"/>
              </a:rPr>
              <a:t>허프만 압축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81528" y="352958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6C3C7"/>
                </a:solidFill>
                <a:latin typeface="Malgun Gothic"/>
              </a:rPr>
              <a:t>빈도표와 트리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773168" y="3273552"/>
            <a:ext cx="393192" cy="0"/>
          </a:xfrm>
          <a:prstGeom prst="line">
            <a:avLst/>
          </a:prstGeom>
          <a:ln w="25400">
            <a:solidFill>
              <a:srgbClr val="F2C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202936" y="2560320"/>
            <a:ext cx="1874519" cy="141732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349240" y="2724912"/>
            <a:ext cx="329184" cy="329184"/>
          </a:xfrm>
          <a:prstGeom prst="ellipse">
            <a:avLst/>
          </a:prstGeom>
          <a:solidFill>
            <a:srgbClr val="FF8977"/>
          </a:solidFill>
          <a:ln>
            <a:solidFill>
              <a:srgbClr val="FF89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49240" y="2797332"/>
            <a:ext cx="329184" cy="148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85816" y="318211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5F3"/>
                </a:solidFill>
                <a:latin typeface="Malgun Gothic"/>
              </a:rPr>
              <a:t>키 유도·암호화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85816" y="352958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6C3C7"/>
                </a:solidFill>
                <a:latin typeface="Malgun Gothic"/>
              </a:rPr>
              <a:t>PBKDF2 + AES-GCM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77456" y="3273552"/>
            <a:ext cx="393192" cy="0"/>
          </a:xfrm>
          <a:prstGeom prst="line">
            <a:avLst/>
          </a:prstGeom>
          <a:ln w="25400">
            <a:solidFill>
              <a:srgbClr val="F2C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7507224" y="2560320"/>
            <a:ext cx="1874519" cy="141732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653528" y="2724912"/>
            <a:ext cx="329184" cy="329184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53528" y="2797332"/>
            <a:ext cx="329184" cy="148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90104" y="318211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5F3"/>
                </a:solidFill>
                <a:latin typeface="Malgun Gothic"/>
              </a:rPr>
              <a:t>.enc 패키지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90104" y="352958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6C3C7"/>
                </a:solidFill>
                <a:latin typeface="Malgun Gothic"/>
              </a:rPr>
              <a:t>헤더 + 인증 암호문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381744" y="3273552"/>
            <a:ext cx="393192" cy="0"/>
          </a:xfrm>
          <a:prstGeom prst="line">
            <a:avLst/>
          </a:prstGeom>
          <a:ln w="25400">
            <a:solidFill>
              <a:srgbClr val="F2C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9811512" y="2560320"/>
            <a:ext cx="1874519" cy="141732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57816" y="2724912"/>
            <a:ext cx="329184" cy="329184"/>
          </a:xfrm>
          <a:prstGeom prst="ellipse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957816" y="2797332"/>
            <a:ext cx="329184" cy="148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94392" y="3182112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5F3"/>
                </a:solidFill>
                <a:latin typeface="Malgun Gothic"/>
              </a:rPr>
              <a:t>복호화·복원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94392" y="352958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6C3C7"/>
                </a:solidFill>
                <a:latin typeface="Malgun Gothic"/>
              </a:rPr>
              <a:t>인증 검증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9808" y="4617720"/>
            <a:ext cx="4892040" cy="1005840"/>
          </a:xfrm>
          <a:prstGeom prst="roundRect">
            <a:avLst>
              <a:gd name="adj" fmla="val 8000"/>
            </a:avLst>
          </a:prstGeom>
          <a:solidFill>
            <a:srgbClr val="0C2734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7552" y="484632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E0CB"/>
                </a:solidFill>
                <a:latin typeface="Consolas"/>
              </a:rPr>
              <a:t>로컬 영역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11680" y="482803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5F3"/>
                </a:solidFill>
                <a:latin typeface="Malgun Gothic"/>
              </a:rPr>
              <a:t>원본 · 비밀 키 · 압축 · 복호화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989320" y="4617720"/>
            <a:ext cx="5349240" cy="1005840"/>
          </a:xfrm>
          <a:prstGeom prst="roundRect">
            <a:avLst>
              <a:gd name="adj" fmla="val 8000"/>
            </a:avLst>
          </a:prstGeom>
          <a:solidFill>
            <a:srgbClr val="0C2734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36208" y="484632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2C85B"/>
                </a:solidFill>
                <a:latin typeface="Consolas"/>
              </a:rPr>
              <a:t>공유 선택 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07808" y="482803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5F3"/>
                </a:solidFill>
                <a:latin typeface="Malgun Gothic"/>
              </a:rPr>
              <a:t>Supabase에는 .enc 암호문과 최소 메타데이터만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SECURE MESSAGE / DISCRETE MATHEMATICS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71323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8E0CB"/>
                </a:solidFill>
                <a:latin typeface="Consolas"/>
              </a:rPr>
              <a:t>03 / TREE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98755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EAF5F3"/>
                </a:solidFill>
                <a:latin typeface="Malgun Gothic"/>
              </a:rPr>
              <a:t>허프만 코딩: 빈도가 코드 길이를 결정한다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171907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C3C7"/>
                </a:solidFill>
                <a:latin typeface="Malgun Gothic"/>
              </a:rPr>
              <a:t>최소 힙으로 빈도가 가장 작은 두 노드를 반복 결합해 이진 트리를 만듭니다.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1600200" y="2331720"/>
            <a:ext cx="1051560" cy="822960"/>
          </a:xfrm>
          <a:prstGeom prst="line">
            <a:avLst/>
          </a:prstGeom>
          <a:ln w="1905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52828" y="259689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C85B"/>
                </a:solidFill>
                <a:latin typeface="Consolas"/>
              </a:rPr>
              <a:t>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651760" y="2331720"/>
            <a:ext cx="1143000" cy="822960"/>
          </a:xfrm>
          <a:prstGeom prst="line">
            <a:avLst/>
          </a:prstGeom>
          <a:ln w="1905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150108" y="259689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C85B"/>
                </a:solidFill>
                <a:latin typeface="Consolas"/>
              </a:rPr>
              <a:t>1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1005840" y="3154680"/>
            <a:ext cx="594360" cy="1005840"/>
          </a:xfrm>
          <a:prstGeom prst="line">
            <a:avLst/>
          </a:prstGeom>
          <a:ln w="1905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229868" y="351129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C85B"/>
                </a:solidFill>
                <a:latin typeface="Consolas"/>
              </a:rPr>
              <a:t>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600200" y="3154680"/>
            <a:ext cx="594360" cy="1005840"/>
          </a:xfrm>
          <a:prstGeom prst="line">
            <a:avLst/>
          </a:prstGeom>
          <a:ln w="1905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824228" y="351129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C85B"/>
                </a:solidFill>
                <a:latin typeface="Consolas"/>
              </a:rPr>
              <a:t>1</a:t>
            </a:r>
          </a:p>
        </p:txBody>
      </p:sp>
      <p:cxnSp>
        <p:nvCxnSpPr>
          <p:cNvPr id="55" name="Connector 54"/>
          <p:cNvCxnSpPr/>
          <p:nvPr/>
        </p:nvCxnSpPr>
        <p:spPr>
          <a:xfrm flipH="1">
            <a:off x="3246120" y="3154680"/>
            <a:ext cx="548640" cy="1005840"/>
          </a:xfrm>
          <a:prstGeom prst="line">
            <a:avLst/>
          </a:prstGeom>
          <a:ln w="1905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3447288" y="351129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C85B"/>
                </a:solidFill>
                <a:latin typeface="Consolas"/>
              </a:rPr>
              <a:t>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794760" y="3154680"/>
            <a:ext cx="594360" cy="1005840"/>
          </a:xfrm>
          <a:prstGeom prst="line">
            <a:avLst/>
          </a:prstGeom>
          <a:ln w="1905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018787" y="351129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C85B"/>
                </a:solidFill>
                <a:latin typeface="Consolas"/>
              </a:rPr>
              <a:t>1</a:t>
            </a:r>
          </a:p>
        </p:txBody>
      </p:sp>
      <p:sp>
        <p:nvSpPr>
          <p:cNvPr id="59" name="Oval 58"/>
          <p:cNvSpPr/>
          <p:nvPr/>
        </p:nvSpPr>
        <p:spPr>
          <a:xfrm>
            <a:off x="2404872" y="2084831"/>
            <a:ext cx="493776" cy="493776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404872" y="2193462"/>
            <a:ext cx="493776" cy="222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10</a:t>
            </a:r>
          </a:p>
        </p:txBody>
      </p:sp>
      <p:sp>
        <p:nvSpPr>
          <p:cNvPr id="61" name="Oval 60"/>
          <p:cNvSpPr/>
          <p:nvPr/>
        </p:nvSpPr>
        <p:spPr>
          <a:xfrm>
            <a:off x="1353312" y="2907792"/>
            <a:ext cx="493776" cy="493776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53312" y="3016422"/>
            <a:ext cx="493776" cy="222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4</a:t>
            </a:r>
          </a:p>
        </p:txBody>
      </p:sp>
      <p:sp>
        <p:nvSpPr>
          <p:cNvPr id="63" name="Oval 62"/>
          <p:cNvSpPr/>
          <p:nvPr/>
        </p:nvSpPr>
        <p:spPr>
          <a:xfrm>
            <a:off x="3547872" y="2907792"/>
            <a:ext cx="493776" cy="493776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47872" y="3016422"/>
            <a:ext cx="493776" cy="222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6</a:t>
            </a:r>
          </a:p>
        </p:txBody>
      </p:sp>
      <p:sp>
        <p:nvSpPr>
          <p:cNvPr id="65" name="Oval 64"/>
          <p:cNvSpPr/>
          <p:nvPr/>
        </p:nvSpPr>
        <p:spPr>
          <a:xfrm>
            <a:off x="758952" y="3913631"/>
            <a:ext cx="493776" cy="493776"/>
          </a:xfrm>
          <a:prstGeom prst="ellipse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8952" y="4022262"/>
            <a:ext cx="493776" cy="222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A:1</a:t>
            </a:r>
          </a:p>
        </p:txBody>
      </p:sp>
      <p:sp>
        <p:nvSpPr>
          <p:cNvPr id="67" name="Oval 66"/>
          <p:cNvSpPr/>
          <p:nvPr/>
        </p:nvSpPr>
        <p:spPr>
          <a:xfrm>
            <a:off x="1947672" y="3913631"/>
            <a:ext cx="493776" cy="493776"/>
          </a:xfrm>
          <a:prstGeom prst="ellipse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947672" y="4022262"/>
            <a:ext cx="493776" cy="222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B:3</a:t>
            </a:r>
          </a:p>
        </p:txBody>
      </p:sp>
      <p:sp>
        <p:nvSpPr>
          <p:cNvPr id="69" name="Oval 68"/>
          <p:cNvSpPr/>
          <p:nvPr/>
        </p:nvSpPr>
        <p:spPr>
          <a:xfrm>
            <a:off x="2999232" y="3913631"/>
            <a:ext cx="493776" cy="493776"/>
          </a:xfrm>
          <a:prstGeom prst="ellipse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999232" y="4022262"/>
            <a:ext cx="493776" cy="222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C:2</a:t>
            </a:r>
          </a:p>
        </p:txBody>
      </p:sp>
      <p:sp>
        <p:nvSpPr>
          <p:cNvPr id="71" name="Oval 70"/>
          <p:cNvSpPr/>
          <p:nvPr/>
        </p:nvSpPr>
        <p:spPr>
          <a:xfrm>
            <a:off x="4142231" y="3913631"/>
            <a:ext cx="493776" cy="493776"/>
          </a:xfrm>
          <a:prstGeom prst="ellipse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42231" y="4022262"/>
            <a:ext cx="493776" cy="222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71924"/>
                </a:solidFill>
                <a:latin typeface="Malgun Gothic"/>
              </a:rPr>
              <a:t>D:4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577840" y="242316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742431" y="2587752"/>
            <a:ext cx="54864" cy="2048256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43600" y="267004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ALGORITHM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3600" y="2953512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구성 과정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0" y="3383280"/>
            <a:ext cx="2011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1. 바이트 빈도 계산
2. 최소 힙에 삽입
3. 최소 두 노드 결합
4. 루트까지 반복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503920" y="242316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68512" y="2587752"/>
            <a:ext cx="54864" cy="2048256"/>
          </a:xfrm>
          <a:prstGeom prst="rect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69680" y="267004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RESULT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2953512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특징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869680" y="3383280"/>
            <a:ext cx="2011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자주 등장하는 바이트
→ 짧은 비트열
모든 코드가 다른 코드의
접두어가 되지 않음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14400" y="5257800"/>
            <a:ext cx="10469880" cy="475488"/>
          </a:xfrm>
          <a:prstGeom prst="roundRect">
            <a:avLst>
              <a:gd name="adj" fmla="val 8000"/>
            </a:avLst>
          </a:prstGeom>
          <a:solidFill>
            <a:srgbClr val="08151D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43000" y="5458968"/>
            <a:ext cx="10012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9F3EB"/>
                </a:solidFill>
                <a:latin typeface="Consolas"/>
              </a:rPr>
              <a:t>예시: A = 00, B = 01, C = 10, D = 11  →  경계 표시 없이도 원문을 복원 가능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SECURE MESSAGE / DISCRETE MATHEMATICS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71323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8E0CB"/>
                </a:solidFill>
                <a:latin typeface="Consolas"/>
              </a:rPr>
              <a:t>03 / CRYPTOGRAPHY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98755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EAF5F3"/>
                </a:solidFill>
                <a:latin typeface="Malgun Gothic"/>
              </a:rPr>
              <a:t>기본은 AES-GCM, XOR은 원리 학습용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171907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C3C7"/>
                </a:solidFill>
                <a:latin typeface="Malgun Gothic"/>
              </a:rPr>
              <a:t>실제 패키지는 PBKDF2-SHA-256으로 키를 유도한 뒤 AES-256-GCM으로 인증 암호화합니다.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2331720"/>
            <a:ext cx="10561320" cy="758952"/>
          </a:xfrm>
          <a:prstGeom prst="roundRect">
            <a:avLst>
              <a:gd name="adj" fmla="val 8000"/>
            </a:avLst>
          </a:prstGeom>
          <a:solidFill>
            <a:srgbClr val="08151D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2532888"/>
            <a:ext cx="10104120" cy="39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9F3EB"/>
                </a:solidFill>
                <a:latin typeface="Consolas"/>
              </a:rPr>
              <a:t>A ⊕ K ⊕ K = A    ·    (A ⊕ K) ⊕ K = 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28800" y="3429000"/>
            <a:ext cx="8458200" cy="429768"/>
          </a:xfrm>
          <a:prstGeom prst="roundRect">
            <a:avLst>
              <a:gd name="adj" fmla="val 8000"/>
            </a:avLst>
          </a:prstGeom>
          <a:solidFill>
            <a:srgbClr val="0C2734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57400" y="3529584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C85B"/>
                </a:solidFill>
                <a:latin typeface="Malgun Gothic"/>
              </a:rPr>
              <a:t>비밀번호 + 새 salt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3520440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AF5F3"/>
                </a:solidFill>
                <a:latin typeface="Consolas"/>
              </a:rPr>
              <a:t>PBKDF2-SHA-256  (250,000회)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61872" y="3904487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8E0CB"/>
                </a:solidFill>
                <a:latin typeface="Consolas"/>
              </a:rPr>
              <a:t>⊕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28800" y="4069080"/>
            <a:ext cx="8458200" cy="429768"/>
          </a:xfrm>
          <a:prstGeom prst="roundRect">
            <a:avLst>
              <a:gd name="adj" fmla="val 8000"/>
            </a:avLst>
          </a:prstGeom>
          <a:solidFill>
            <a:srgbClr val="0C2734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57400" y="4169664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E0CB"/>
                </a:solidFill>
                <a:latin typeface="Malgun Gothic"/>
              </a:rPr>
              <a:t>새 IV + 압축 데이터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4160520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AF5F3"/>
                </a:solidFill>
                <a:latin typeface="Consolas"/>
              </a:rPr>
              <a:t>AES-256-GCM + 헤더 인증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61872" y="454456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8E0CB"/>
                </a:solidFill>
                <a:latin typeface="Consolas"/>
              </a:rPr>
              <a:t>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828800" y="4709160"/>
            <a:ext cx="8458200" cy="429768"/>
          </a:xfrm>
          <a:prstGeom prst="roundRect">
            <a:avLst>
              <a:gd name="adj" fmla="val 8000"/>
            </a:avLst>
          </a:prstGeom>
          <a:solidFill>
            <a:srgbClr val="0C2734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4809744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8977"/>
                </a:solidFill>
                <a:latin typeface="Malgun Gothic"/>
              </a:rPr>
              <a:t>SME2 암호문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4800600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AF5F3"/>
                </a:solidFill>
                <a:latin typeface="Consolas"/>
              </a:rPr>
              <a:t>변조 시 복호화 거부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551383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E0CB"/>
                </a:solidFill>
                <a:latin typeface="Consolas"/>
              </a:rPr>
              <a:t>XOR 학습 모드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94560" y="5486400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6C3C7"/>
                </a:solidFill>
                <a:latin typeface="Malgun Gothic"/>
              </a:rPr>
              <a:t>A ⊕ K ⊕ K = A 성질을 관찰하기 위한 호환용 SME1 모드이며, 새 파일의 기본값은 아닙니다.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SECURE MESSAGE / DISCRETE MATHEMATICS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71323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8E0CB"/>
                </a:solidFill>
                <a:latin typeface="Consolas"/>
              </a:rPr>
              <a:t>04 / PACKAGE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98755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EAF5F3"/>
                </a:solidFill>
                <a:latin typeface="Malgun Gothic"/>
              </a:rPr>
              <a:t>SME2 .enc 패키지와 인증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171907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C3C7"/>
                </a:solidFill>
                <a:latin typeface="Malgun Gothic"/>
              </a:rPr>
              <a:t>복호화에 필요한 압축 정보, 키 유도 정보, 인증 암호문을 하나의 패키지로 전달합니다.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2514600"/>
            <a:ext cx="2084831" cy="114300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" y="2743200"/>
            <a:ext cx="1691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8E0CB"/>
                </a:solidFill>
                <a:latin typeface="Consolas"/>
              </a:rPr>
              <a:t>SME2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0392" y="3099816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6C3C7"/>
                </a:solidFill>
                <a:latin typeface="Malgun Gothic"/>
              </a:rPr>
              <a:t>식별자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53512" y="2514600"/>
            <a:ext cx="2084831" cy="114300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18104" y="2743200"/>
            <a:ext cx="1691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2C85B"/>
                </a:solidFill>
                <a:latin typeface="Consolas"/>
              </a:rPr>
              <a:t>이름·MIME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18104" y="3099816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6C3C7"/>
                </a:solidFill>
                <a:latin typeface="Malgun Gothic"/>
              </a:rPr>
              <a:t>원본 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221224" y="2514600"/>
            <a:ext cx="2084831" cy="114300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85816" y="2743200"/>
            <a:ext cx="1691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8E0CB"/>
                </a:solidFill>
                <a:latin typeface="Consolas"/>
              </a:rPr>
              <a:t>빈도표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85816" y="3099816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6C3C7"/>
                </a:solidFill>
                <a:latin typeface="Malgun Gothic"/>
              </a:rPr>
              <a:t>허프만 트리 재구성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488936" y="2514600"/>
            <a:ext cx="2084831" cy="114300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53527" y="2743200"/>
            <a:ext cx="1691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8977"/>
                </a:solidFill>
                <a:latin typeface="Consolas"/>
              </a:rPr>
              <a:t>salt · IV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3527" y="3099816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6C3C7"/>
                </a:solidFill>
                <a:latin typeface="Malgun Gothic"/>
              </a:rPr>
              <a:t>PBKDF2/AES-GCM 값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756648" y="2514600"/>
            <a:ext cx="2084831" cy="114300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21240" y="2743200"/>
            <a:ext cx="1691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2C85B"/>
                </a:solidFill>
                <a:latin typeface="Consolas"/>
              </a:rPr>
              <a:t>암호문 + 태그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21240" y="3099816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6C3C7"/>
                </a:solidFill>
                <a:latin typeface="Malgun Gothic"/>
              </a:rPr>
              <a:t>변조 검출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4343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AF5F3"/>
                </a:solidFill>
                <a:latin typeface="Malgun Gothic"/>
              </a:rPr>
              <a:t>복호화 검증 흐름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4892040"/>
            <a:ext cx="384048" cy="384048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4976530"/>
            <a:ext cx="384048" cy="172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71924"/>
                </a:solidFill>
                <a:latin typeface="Malgun Gothic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43584" y="4956048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F5F3"/>
                </a:solidFill>
                <a:latin typeface="Malgun Gothic"/>
              </a:rPr>
              <a:t>AES-GCM 인증 복호화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063239" y="5084064"/>
            <a:ext cx="411481" cy="0"/>
          </a:xfrm>
          <a:prstGeom prst="line">
            <a:avLst/>
          </a:prstGeom>
          <a:ln w="19050">
            <a:solidFill>
              <a:srgbClr val="F2C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520439" y="4892040"/>
            <a:ext cx="384048" cy="384048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520439" y="4976530"/>
            <a:ext cx="384048" cy="172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71924"/>
                </a:solidFill>
                <a:latin typeface="Malgun Gothic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32504" y="4956048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F5F3"/>
                </a:solidFill>
                <a:latin typeface="Malgun Gothic"/>
              </a:rPr>
              <a:t>허프만 압축 해제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52159" y="5084064"/>
            <a:ext cx="411481" cy="0"/>
          </a:xfrm>
          <a:prstGeom prst="line">
            <a:avLst/>
          </a:prstGeom>
          <a:ln w="19050">
            <a:solidFill>
              <a:srgbClr val="F2C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6309359" y="4892040"/>
            <a:ext cx="384048" cy="384048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9359" y="4976530"/>
            <a:ext cx="384048" cy="172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71924"/>
                </a:solidFill>
                <a:latin typeface="Malgun Gothic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21423" y="4956048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F5F3"/>
                </a:solidFill>
                <a:latin typeface="Malgun Gothic"/>
              </a:rPr>
              <a:t>원본 바이트 복원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8641080" y="5084064"/>
            <a:ext cx="411479" cy="0"/>
          </a:xfrm>
          <a:prstGeom prst="line">
            <a:avLst/>
          </a:prstGeom>
          <a:ln w="19050">
            <a:solidFill>
              <a:srgbClr val="F2C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9098280" y="4892040"/>
            <a:ext cx="384048" cy="384048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98280" y="4976530"/>
            <a:ext cx="384048" cy="172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71924"/>
                </a:solidFill>
                <a:latin typeface="Malgun Gothic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10344" y="4956048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F5F3"/>
                </a:solidFill>
                <a:latin typeface="Malgun Gothic"/>
              </a:rPr>
              <a:t>변조·오류 시 즉시 거부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07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SECURE MESSAGE / DISCRETE MATHEMATICS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71323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8E0CB"/>
                </a:solidFill>
                <a:latin typeface="Consolas"/>
              </a:rPr>
              <a:t>03 / GRAPH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98755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EAF5F3"/>
                </a:solidFill>
                <a:latin typeface="Malgun Gothic"/>
              </a:rPr>
              <a:t>다익스트라: 가중치 합이 가장 작은 경로 찾기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171907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C3C7"/>
                </a:solidFill>
                <a:latin typeface="Malgun Gothic"/>
              </a:rPr>
              <a:t>정점은 서버, 간선은 연결, 가중치는 전송 시간 또는 위험도로 모델링했습니다.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1371600" y="2834639"/>
            <a:ext cx="1691639" cy="1280161"/>
          </a:xfrm>
          <a:prstGeom prst="line">
            <a:avLst/>
          </a:prstGeom>
          <a:ln w="3302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52828" y="309067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12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371600" y="4114800"/>
            <a:ext cx="1783079" cy="731520"/>
          </a:xfrm>
          <a:prstGeom prst="line">
            <a:avLst/>
          </a:prstGeom>
          <a:ln w="1397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098548" y="4096511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20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063239" y="2834639"/>
            <a:ext cx="91440" cy="2011681"/>
          </a:xfrm>
          <a:prstGeom prst="line">
            <a:avLst/>
          </a:prstGeom>
          <a:ln w="1397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44368" y="345643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11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3063239" y="2697479"/>
            <a:ext cx="2103120" cy="137160"/>
          </a:xfrm>
          <a:prstGeom prst="line">
            <a:avLst/>
          </a:prstGeom>
          <a:ln w="3302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3950207" y="2382011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9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3154679" y="2697479"/>
            <a:ext cx="2011680" cy="2148841"/>
          </a:xfrm>
          <a:prstGeom prst="line">
            <a:avLst/>
          </a:prstGeom>
          <a:ln w="1397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3995928" y="338785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16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3154679" y="4754880"/>
            <a:ext cx="2423161" cy="91440"/>
          </a:xfrm>
          <a:prstGeom prst="line">
            <a:avLst/>
          </a:prstGeom>
          <a:ln w="1397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201668" y="441655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13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166359" y="2697479"/>
            <a:ext cx="411481" cy="2057401"/>
          </a:xfrm>
          <a:prstGeom prst="line">
            <a:avLst/>
          </a:prstGeom>
          <a:ln w="1397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207507" y="334213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14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166359" y="2697479"/>
            <a:ext cx="2423161" cy="914400"/>
          </a:xfrm>
          <a:prstGeom prst="line">
            <a:avLst/>
          </a:prstGeom>
          <a:ln w="3302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213348" y="277063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18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5577840" y="3611879"/>
            <a:ext cx="2011680" cy="1143001"/>
          </a:xfrm>
          <a:prstGeom prst="line">
            <a:avLst/>
          </a:prstGeom>
          <a:ln w="1397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419088" y="379933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10</a:t>
            </a:r>
          </a:p>
        </p:txBody>
      </p:sp>
      <p:cxnSp>
        <p:nvCxnSpPr>
          <p:cNvPr id="65" name="Connector 64"/>
          <p:cNvCxnSpPr/>
          <p:nvPr/>
        </p:nvCxnSpPr>
        <p:spPr>
          <a:xfrm flipV="1">
            <a:off x="5577840" y="3703320"/>
            <a:ext cx="4297680" cy="1051560"/>
          </a:xfrm>
          <a:prstGeom prst="line">
            <a:avLst/>
          </a:prstGeom>
          <a:ln w="1397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562088" y="384505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23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589520" y="3611879"/>
            <a:ext cx="2286000" cy="91441"/>
          </a:xfrm>
          <a:prstGeom prst="line">
            <a:avLst/>
          </a:prstGeom>
          <a:ln w="33020">
            <a:solidFill>
              <a:srgbClr val="58E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567928" y="327355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8</a:t>
            </a:r>
          </a:p>
        </p:txBody>
      </p:sp>
      <p:sp>
        <p:nvSpPr>
          <p:cNvPr id="69" name="Oval 68"/>
          <p:cNvSpPr/>
          <p:nvPr/>
        </p:nvSpPr>
        <p:spPr>
          <a:xfrm>
            <a:off x="1097280" y="3840480"/>
            <a:ext cx="548640" cy="548640"/>
          </a:xfrm>
          <a:prstGeom prst="ellipse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97280" y="396118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71924"/>
                </a:solidFill>
                <a:latin typeface="Malgun Gothic"/>
              </a:rPr>
              <a:t>나</a:t>
            </a:r>
          </a:p>
        </p:txBody>
      </p:sp>
      <p:sp>
        <p:nvSpPr>
          <p:cNvPr id="71" name="Oval 70"/>
          <p:cNvSpPr/>
          <p:nvPr/>
        </p:nvSpPr>
        <p:spPr>
          <a:xfrm>
            <a:off x="2788920" y="2560320"/>
            <a:ext cx="548640" cy="548640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88920" y="268102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71924"/>
                </a:solidFill>
                <a:latin typeface="Malgun Gothic"/>
              </a:rPr>
              <a:t>서울</a:t>
            </a:r>
          </a:p>
        </p:txBody>
      </p:sp>
      <p:sp>
        <p:nvSpPr>
          <p:cNvPr id="73" name="Oval 72"/>
          <p:cNvSpPr/>
          <p:nvPr/>
        </p:nvSpPr>
        <p:spPr>
          <a:xfrm>
            <a:off x="2880360" y="4572000"/>
            <a:ext cx="548640" cy="548640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80360" y="469270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71924"/>
                </a:solidFill>
                <a:latin typeface="Malgun Gothic"/>
              </a:rPr>
              <a:t>대전</a:t>
            </a:r>
          </a:p>
        </p:txBody>
      </p:sp>
      <p:sp>
        <p:nvSpPr>
          <p:cNvPr id="75" name="Oval 74"/>
          <p:cNvSpPr/>
          <p:nvPr/>
        </p:nvSpPr>
        <p:spPr>
          <a:xfrm>
            <a:off x="4892040" y="2423160"/>
            <a:ext cx="548640" cy="548640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892040" y="254386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71924"/>
                </a:solidFill>
                <a:latin typeface="Malgun Gothic"/>
              </a:rPr>
              <a:t>인천</a:t>
            </a:r>
          </a:p>
        </p:txBody>
      </p:sp>
      <p:sp>
        <p:nvSpPr>
          <p:cNvPr id="77" name="Oval 76"/>
          <p:cNvSpPr/>
          <p:nvPr/>
        </p:nvSpPr>
        <p:spPr>
          <a:xfrm>
            <a:off x="5303520" y="4480560"/>
            <a:ext cx="548640" cy="548640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03520" y="460126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71924"/>
                </a:solidFill>
                <a:latin typeface="Malgun Gothic"/>
              </a:rPr>
              <a:t>부산</a:t>
            </a:r>
          </a:p>
        </p:txBody>
      </p:sp>
      <p:sp>
        <p:nvSpPr>
          <p:cNvPr id="79" name="Oval 78"/>
          <p:cNvSpPr/>
          <p:nvPr/>
        </p:nvSpPr>
        <p:spPr>
          <a:xfrm>
            <a:off x="7315200" y="3337560"/>
            <a:ext cx="548640" cy="548640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315200" y="345826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71924"/>
                </a:solidFill>
                <a:latin typeface="Malgun Gothic"/>
              </a:rPr>
              <a:t>광주</a:t>
            </a:r>
          </a:p>
        </p:txBody>
      </p:sp>
      <p:sp>
        <p:nvSpPr>
          <p:cNvPr id="81" name="Oval 80"/>
          <p:cNvSpPr/>
          <p:nvPr/>
        </p:nvSpPr>
        <p:spPr>
          <a:xfrm>
            <a:off x="9601200" y="3429000"/>
            <a:ext cx="548640" cy="548640"/>
          </a:xfrm>
          <a:prstGeom prst="ellipse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601200" y="354970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71924"/>
                </a:solidFill>
                <a:latin typeface="Malgun Gothic"/>
              </a:rPr>
              <a:t>상대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77240" y="5166360"/>
            <a:ext cx="3291840" cy="77724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41832" y="5330952"/>
            <a:ext cx="54864" cy="448056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43000" y="5413248"/>
            <a:ext cx="2697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MODEL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43000" y="5696712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시간 가중치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43000" y="6126480"/>
            <a:ext cx="2697480" cy="-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선 위 숫자는 ms. 합이 작은 경로를 선택.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34840" y="5166360"/>
            <a:ext cx="3291840" cy="77724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599431" y="5330952"/>
            <a:ext cx="54864" cy="448056"/>
          </a:xfrm>
          <a:prstGeom prst="rect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800600" y="5413248"/>
            <a:ext cx="2697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MODEL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5696712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위험도 가중치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800600" y="6126480"/>
            <a:ext cx="2697480" cy="-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같은 그래프도 비용 정의에 따라 결과가 달라짐.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092440" y="5166360"/>
            <a:ext cx="3291840" cy="77724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257031" y="5330952"/>
            <a:ext cx="54864" cy="448056"/>
          </a:xfrm>
          <a:prstGeom prst="rect">
            <a:avLst/>
          </a:prstGeom>
          <a:solidFill>
            <a:srgbClr val="FF8977"/>
          </a:solidFill>
          <a:ln>
            <a:solidFill>
              <a:srgbClr val="FF89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458200" y="5413248"/>
            <a:ext cx="2697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8977"/>
                </a:solidFill>
                <a:latin typeface="Consolas"/>
              </a:rPr>
              <a:t>VISUALIZATION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58200" y="5696712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시연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58200" y="6126480"/>
            <a:ext cx="2697480" cy="-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선택 경로와 탐색 기록, 패킷 이동을 표시.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SECURE MESSAGE / DISCRETE MATHEMATICS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71323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8E0CB"/>
                </a:solidFill>
                <a:latin typeface="Consolas"/>
              </a:rPr>
              <a:t>05 / IMPLEMENTATION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98755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EAF5F3"/>
                </a:solidFill>
                <a:latin typeface="Malgun Gothic"/>
              </a:rPr>
              <a:t>웹앱에서 직접 확인할 수 있는 기능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171907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C3C7"/>
                </a:solidFill>
                <a:latin typeface="Malgun Gothic"/>
              </a:rPr>
              <a:t>입력-처리-시각화-공유가 하나의 흐름으로 연결됩니다.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2331720"/>
            <a:ext cx="5166360" cy="841248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50392" y="2496312"/>
            <a:ext cx="54864" cy="512064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257860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01 / FEATURE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2862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암호화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3291839"/>
            <a:ext cx="4572000" cy="-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PBKDF2 + AES-GCM 기본, 25MB 제한, .enc 다운로드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60" y="2331720"/>
            <a:ext cx="5166360" cy="841248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73952" y="2496312"/>
            <a:ext cx="54864" cy="512064"/>
          </a:xfrm>
          <a:prstGeom prst="rect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0" y="257860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02 / FEATURE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75120" y="2862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복호화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3291839"/>
            <a:ext cx="4572000" cy="-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동일 키 입력, 인증 검증 후 원본 복원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" y="3429000"/>
            <a:ext cx="5166360" cy="841248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0392" y="3593592"/>
            <a:ext cx="54864" cy="512064"/>
          </a:xfrm>
          <a:prstGeom prst="rect">
            <a:avLst/>
          </a:prstGeom>
          <a:solidFill>
            <a:srgbClr val="FF8977"/>
          </a:solidFill>
          <a:ln>
            <a:solidFill>
              <a:srgbClr val="FF89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" y="3675887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8977"/>
                </a:solidFill>
                <a:latin typeface="Consolas"/>
              </a:rPr>
              <a:t>03 / FEATURE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395935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전송 경로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4389120"/>
            <a:ext cx="4572000" cy="-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시간/위험도 선택, 가중치 수정과 비교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09360" y="3429000"/>
            <a:ext cx="5166360" cy="841248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73952" y="3593592"/>
            <a:ext cx="54864" cy="512064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75120" y="3675887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04 / FEATURE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75120" y="395935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보안 분석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75120" y="4389120"/>
            <a:ext cx="4572000" cy="-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XOR 학습용 바이트 빈도 분포 비교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502152" y="4526279"/>
            <a:ext cx="5166360" cy="841248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666744" y="4690871"/>
            <a:ext cx="54864" cy="512064"/>
          </a:xfrm>
          <a:prstGeom prst="rect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67912" y="4773167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05 / FEATURE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67912" y="5056631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공유 보관함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912" y="5486399"/>
            <a:ext cx="4572000" cy="-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Supabase에 암호문만 업로드·수신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SECURE MESSAGE / DISCRETE MATHEMATICS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71323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8E0CB"/>
                </a:solidFill>
                <a:latin typeface="Consolas"/>
              </a:rPr>
              <a:t>06 / DEMO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98755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EAF5F3"/>
                </a:solidFill>
                <a:latin typeface="Malgun Gothic"/>
              </a:rPr>
              <a:t>시연은 90초 안에 이렇게 진행합니다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171907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C3C7"/>
                </a:solidFill>
                <a:latin typeface="Malgun Gothic"/>
              </a:rPr>
              <a:t>짧은 문장 하나로 압축, 암호화, 공유, 복호화까지 보여 줄 수 있습니다.</a:t>
            </a:r>
          </a:p>
        </p:txBody>
      </p:sp>
      <p:sp>
        <p:nvSpPr>
          <p:cNvPr id="47" name="Oval 46"/>
          <p:cNvSpPr/>
          <p:nvPr/>
        </p:nvSpPr>
        <p:spPr>
          <a:xfrm>
            <a:off x="868680" y="2240280"/>
            <a:ext cx="384048" cy="384048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2324770"/>
            <a:ext cx="384048" cy="172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71924"/>
                </a:solidFill>
                <a:latin typeface="Malgun Gothic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227685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5F3"/>
                </a:solidFill>
                <a:latin typeface="Malgun Gothic"/>
              </a:rPr>
              <a:t>입력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0320" y="229514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6C3C7"/>
                </a:solidFill>
                <a:latin typeface="Malgun Gothic"/>
              </a:rPr>
              <a:t>“이산수학으로 보낸 비밀 메시지”와 비밀번호 입력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60704" y="2633472"/>
            <a:ext cx="0" cy="274320"/>
          </a:xfrm>
          <a:prstGeom prst="line">
            <a:avLst/>
          </a:prstGeom>
          <a:ln w="1270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868680" y="2953512"/>
            <a:ext cx="384048" cy="384048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3038002"/>
            <a:ext cx="384048" cy="172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71924"/>
                </a:solidFill>
                <a:latin typeface="Malgun Gothic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299008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5F3"/>
                </a:solidFill>
                <a:latin typeface="Malgun Gothic"/>
              </a:rPr>
              <a:t>암호화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60320" y="3008376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6C3C7"/>
                </a:solidFill>
                <a:latin typeface="Malgun Gothic"/>
              </a:rPr>
              <a:t>트리 생성, PBKDF2 키 유도, AES-GCM 인증 암호화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60704" y="3346704"/>
            <a:ext cx="0" cy="274320"/>
          </a:xfrm>
          <a:prstGeom prst="line">
            <a:avLst/>
          </a:prstGeom>
          <a:ln w="1270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868680" y="3666744"/>
            <a:ext cx="384048" cy="384048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3751234"/>
            <a:ext cx="384048" cy="172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71924"/>
                </a:solidFill>
                <a:latin typeface="Malgun Gothic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63040" y="37033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5F3"/>
                </a:solidFill>
                <a:latin typeface="Malgun Gothic"/>
              </a:rPr>
              <a:t>다운로드/업로드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60320" y="3721607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6C3C7"/>
                </a:solidFill>
                <a:latin typeface="Malgun Gothic"/>
              </a:rPr>
              <a:t>SME2 .enc 파일 생성 또는 Supabase 보관함 업로드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060704" y="4059935"/>
            <a:ext cx="0" cy="274321"/>
          </a:xfrm>
          <a:prstGeom prst="line">
            <a:avLst/>
          </a:prstGeom>
          <a:ln w="1270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868680" y="4379976"/>
            <a:ext cx="384048" cy="384048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4464466"/>
            <a:ext cx="384048" cy="172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71924"/>
                </a:solidFill>
                <a:latin typeface="Malgun Gothic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63040" y="4416552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5F3"/>
                </a:solidFill>
                <a:latin typeface="Malgun Gothic"/>
              </a:rPr>
              <a:t>경로 계산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0320" y="443484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6C3C7"/>
                </a:solidFill>
                <a:latin typeface="Malgun Gothic"/>
              </a:rPr>
              <a:t>시간 또는 위험도 기준으로 다익스트라 실행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60704" y="4773168"/>
            <a:ext cx="0" cy="274320"/>
          </a:xfrm>
          <a:prstGeom prst="line">
            <a:avLst/>
          </a:prstGeom>
          <a:ln w="1270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868680" y="5093208"/>
            <a:ext cx="384048" cy="384048"/>
          </a:xfrm>
          <a:prstGeom prst="ellipse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5177698"/>
            <a:ext cx="384048" cy="172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71924"/>
                </a:solidFill>
                <a:latin typeface="Malgun Gothic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63040" y="512978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AF5F3"/>
                </a:solidFill>
                <a:latin typeface="Malgun Gothic"/>
              </a:rPr>
              <a:t>복호화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0" y="514807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6C3C7"/>
                </a:solidFill>
                <a:latin typeface="Malgun Gothic"/>
              </a:rPr>
              <a:t>같은 키로 복원, 인증 검증 통과 확인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060704" y="5486400"/>
            <a:ext cx="0" cy="274320"/>
          </a:xfrm>
          <a:prstGeom prst="line">
            <a:avLst/>
          </a:prstGeom>
          <a:ln w="1270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SECURE MESSAGE / DISCRETE MATHEMATICS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713232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8E0CB"/>
                </a:solidFill>
                <a:latin typeface="Consolas"/>
              </a:rPr>
              <a:t>07 / SECURITY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98755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EAF5F3"/>
                </a:solidFill>
                <a:latin typeface="Malgun Gothic"/>
              </a:rPr>
              <a:t>보호되는 것과 남아 있는 한계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171907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C3C7"/>
                </a:solidFill>
                <a:latin typeface="Malgun Gothic"/>
              </a:rPr>
              <a:t>검증된 인증 암호를 적용해도 공개 공유 환경의 접근 제어 문제는 별도로 남습니다.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2423160"/>
            <a:ext cx="3429000" cy="237744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50392" y="2587752"/>
            <a:ext cx="54864" cy="2048256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2670048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WHAT IS PROTECTED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2953512"/>
            <a:ext cx="2834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보호되는 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3383280"/>
            <a:ext cx="2834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원본 파일과 비밀 키는
브라우저 내부에서 처리
서버에는 .enc 암호문과
최소 메타데이터만 저장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89120" y="2423160"/>
            <a:ext cx="3429000" cy="237744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53712" y="2587752"/>
            <a:ext cx="54864" cy="2048256"/>
          </a:xfrm>
          <a:prstGeom prst="rect">
            <a:avLst/>
          </a:prstGeom>
          <a:solidFill>
            <a:srgbClr val="FF8977"/>
          </a:solidFill>
          <a:ln>
            <a:solidFill>
              <a:srgbClr val="FF89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54880" y="2670048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8977"/>
                </a:solidFill>
                <a:latin typeface="Consolas"/>
              </a:rPr>
              <a:t>DEFAULT SECURITY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2953512"/>
            <a:ext cx="2834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기본 암호화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0" y="3383280"/>
            <a:ext cx="2834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새 salt + PBKDF2 250,000회
새 IV + AES-256-GCM
헤더와 암호문의 변조를 검출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92440" y="2423160"/>
            <a:ext cx="3429000" cy="237744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57031" y="2587752"/>
            <a:ext cx="54864" cy="2048256"/>
          </a:xfrm>
          <a:prstGeom prst="rect">
            <a:avLst/>
          </a:prstGeom>
          <a:solidFill>
            <a:srgbClr val="F2C85B"/>
          </a:solidFill>
          <a:ln>
            <a:solidFill>
              <a:srgbClr val="F2C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58200" y="2670048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2C85B"/>
                </a:solidFill>
                <a:latin typeface="Consolas"/>
              </a:rPr>
              <a:t>REMAINING LIMITS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2953512"/>
            <a:ext cx="2834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5F3"/>
                </a:solidFill>
                <a:latin typeface="Malgun Gothic"/>
              </a:rPr>
              <a:t>공유 환경의 한계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58200" y="3383280"/>
            <a:ext cx="2834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6C3C7"/>
                </a:solidFill>
                <a:latin typeface="Malgun Gothic"/>
              </a:rPr>
              <a:t>공개 보관함 정책에서는
접근 제어가 부족할 수 있음
권한 관리·삭제·감사 로그 필요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4440" y="5303520"/>
            <a:ext cx="9738360" cy="530352"/>
          </a:xfrm>
          <a:prstGeom prst="roundRect">
            <a:avLst>
              <a:gd name="adj" fmla="val 8000"/>
            </a:avLst>
          </a:prstGeom>
          <a:solidFill>
            <a:srgbClr val="08151D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63040" y="5504688"/>
            <a:ext cx="9281160" cy="164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9F3EB"/>
                </a:solidFill>
                <a:latin typeface="Consolas"/>
              </a:rPr>
              <a:t>결론: “암호화했다”가 아니라 “어떤 위협을 막고, 무엇이 남는가”를 함께 설명한다.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9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173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31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9260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290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319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348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377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65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523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582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640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669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7572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97864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81560" y="0"/>
            <a:ext cx="0" cy="685800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8229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13258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23317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28346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33375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43434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484632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534924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0" y="585216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0" y="635508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0" y="6858000"/>
            <a:ext cx="12191695" cy="0"/>
          </a:xfrm>
          <a:prstGeom prst="line">
            <a:avLst/>
          </a:prstGeom>
          <a:ln w="3175">
            <a:solidFill>
              <a:srgbClr val="0B2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8E0CB"/>
          </a:solidFill>
          <a:ln>
            <a:solidFill>
              <a:srgbClr val="58E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603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A6C3C7"/>
                </a:solidFill>
                <a:latin typeface="Consolas"/>
              </a:rPr>
              <a:t>CONCLUSION / SECURE MESSAGE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25603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>
                <a:solidFill>
                  <a:srgbClr val="A6C3C7"/>
                </a:solidFill>
                <a:latin typeface="Consolas"/>
              </a:rPr>
              <a:t>SECURE MESSAGE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105156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58E0CB"/>
                </a:solidFill>
                <a:latin typeface="Consolas"/>
              </a:rPr>
              <a:t>TREE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61488" y="1033271"/>
            <a:ext cx="365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F2C85B"/>
                </a:solidFill>
                <a:latin typeface="Consolas"/>
              </a:rPr>
              <a:t>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10515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F2C85B"/>
                </a:solidFill>
                <a:latin typeface="Consolas"/>
              </a:rPr>
              <a:t>AES-GCM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1033271"/>
            <a:ext cx="365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FF8977"/>
                </a:solidFill>
                <a:latin typeface="Consolas"/>
              </a:rPr>
              <a:t>+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0720" y="10515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FF8977"/>
                </a:solidFill>
                <a:latin typeface="Consolas"/>
              </a:rPr>
              <a:t>GRAPH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1874519"/>
            <a:ext cx="86868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EAF5F3"/>
                </a:solidFill>
                <a:latin typeface="Malgun Gothic"/>
              </a:rPr>
              <a:t>수학의 구조를
“작동하는 보안 통신”으로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352044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6C3C7"/>
                </a:solidFill>
                <a:latin typeface="Malgun Gothic"/>
              </a:rPr>
              <a:t>허프만 트리는 효율을, AES-GCM은 기밀성·무결성을, XOR은 부울대수 원리를, 다익스트라는 전달의 최적화를 설명합니다.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3232" y="4572000"/>
            <a:ext cx="10716768" cy="914400"/>
          </a:xfrm>
          <a:prstGeom prst="roundRect">
            <a:avLst>
              <a:gd name="adj" fmla="val 8000"/>
            </a:avLst>
          </a:prstGeom>
          <a:solidFill>
            <a:srgbClr val="103442"/>
          </a:solidFill>
          <a:ln>
            <a:solidFill>
              <a:srgbClr val="2B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" y="480060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E0CB"/>
                </a:solidFill>
                <a:latin typeface="Consolas"/>
              </a:rPr>
              <a:t>발표 핵심 한 문장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06040" y="4754880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AF5F3"/>
                </a:solidFill>
                <a:latin typeface="Malgun Gothic"/>
              </a:rPr>
              <a:t>“데이터의 표현·변환·이동은 모두 이산수학적 구조로 모델링할 수 있다.”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58521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58E0CB"/>
                </a:solidFill>
                <a:latin typeface="Consolas"/>
              </a:rPr>
              <a:t>THANK YOU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8890">
            <a:solidFill>
              <a:srgbClr val="2B59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6928" y="656539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58E0CB"/>
                </a:solidFill>
                <a:latin typeface="Consolas"/>
              </a:rPr>
              <a:t>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2688" y="656539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6C3C7"/>
                </a:solidFill>
                <a:latin typeface="Malgun Gothic"/>
              </a:rPr>
              <a:t>원본과 비밀 키는 브라우저 밖으로 나가지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