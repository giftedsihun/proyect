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DISCRETE MATHEMATICS PROJECT /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1033271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EAF5F3"/>
                </a:solidFill>
                <a:latin typeface="Consolas"/>
              </a:rPr>
              <a:t>SECURE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1673352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58E0CB"/>
                </a:solidFill>
                <a:latin typeface="Consolas"/>
              </a:rPr>
              <a:t>MESSAGE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25146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EAF5F3"/>
                </a:solidFill>
                <a:latin typeface="Malgun Gothic"/>
              </a:rPr>
              <a:t>수학으로 설계한 안전한 메시지 전송 웹앱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3090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허프만 트리 · XOR 부울대수 · 다익스트라 알고리즘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555480" y="1600200"/>
            <a:ext cx="1280160" cy="100584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189719" y="2606040"/>
            <a:ext cx="1645921" cy="109728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89719" y="3703320"/>
            <a:ext cx="1554481" cy="1005839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372600" y="4709159"/>
            <a:ext cx="1371600" cy="1005841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235440" y="1280160"/>
            <a:ext cx="640080" cy="64008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1420977"/>
            <a:ext cx="64008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입력</a:t>
            </a:r>
          </a:p>
        </p:txBody>
      </p:sp>
      <p:sp>
        <p:nvSpPr>
          <p:cNvPr id="54" name="Oval 53"/>
          <p:cNvSpPr/>
          <p:nvPr/>
        </p:nvSpPr>
        <p:spPr>
          <a:xfrm>
            <a:off x="10515600" y="2286000"/>
            <a:ext cx="640080" cy="64008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0" y="2426817"/>
            <a:ext cx="64008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압축</a:t>
            </a:r>
          </a:p>
        </p:txBody>
      </p:sp>
      <p:sp>
        <p:nvSpPr>
          <p:cNvPr id="56" name="Oval 55"/>
          <p:cNvSpPr/>
          <p:nvPr/>
        </p:nvSpPr>
        <p:spPr>
          <a:xfrm>
            <a:off x="8869680" y="3383280"/>
            <a:ext cx="640080" cy="640080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3524097"/>
            <a:ext cx="64008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XOR</a:t>
            </a:r>
          </a:p>
        </p:txBody>
      </p:sp>
      <p:sp>
        <p:nvSpPr>
          <p:cNvPr id="58" name="Oval 57"/>
          <p:cNvSpPr/>
          <p:nvPr/>
        </p:nvSpPr>
        <p:spPr>
          <a:xfrm>
            <a:off x="10424160" y="4389120"/>
            <a:ext cx="640080" cy="64008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60" y="4529937"/>
            <a:ext cx="64008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.enc</a:t>
            </a:r>
          </a:p>
        </p:txBody>
      </p:sp>
      <p:sp>
        <p:nvSpPr>
          <p:cNvPr id="60" name="Oval 59"/>
          <p:cNvSpPr/>
          <p:nvPr/>
        </p:nvSpPr>
        <p:spPr>
          <a:xfrm>
            <a:off x="9052560" y="5394960"/>
            <a:ext cx="640080" cy="64008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5535777"/>
            <a:ext cx="64008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복원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4944" y="4892040"/>
            <a:ext cx="5074920" cy="8686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" y="51206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핵심 원칙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509320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원본 파일과 비밀 키는 브라우저에서만 처리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발표 흐름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문제 정의부터 수학적 모델, 구현과 한계까지 설명합니다.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286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24871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244144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문제와 목표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273405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왜 보안 전송을 수학적으로 모델링하는가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286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4871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244144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전체 구조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273405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입력부터 복호화·공유까지의 데이터 흐름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3429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36301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8760" y="358444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핵심 개념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8760" y="387705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허프만 / XOR / 다익스트라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3429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36301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358444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구현과 시연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387705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웹앱 기능과 검증 과정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56432" y="4572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85031" y="47731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79392" y="472744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한계와 확장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79392" y="502005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교육용 암호의 한계 및 개선 방향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01 / PROBLEM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메시지를 “안전하게” 전송하려면?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기밀성만이 아니라 용량, 무결성, 전달 경로까지 함께 고려해야 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2331720"/>
            <a:ext cx="3474720" cy="22402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1" y="2496312"/>
            <a:ext cx="54864" cy="191109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2578608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CHALLENGE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28620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용량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291839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파일 크기가 크면 저장·전송 효율이 떨어진다.
→ 빈도 기반 무손실 압축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52544" y="2331720"/>
            <a:ext cx="3474720" cy="22402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17136" y="2496312"/>
            <a:ext cx="54864" cy="191109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2578608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CHALLENGE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8304" y="28620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기밀성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18304" y="3291839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전송 중 내용을 읽을 수 없어야 한다.
→ 키와 XOR 연산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5008" y="2331720"/>
            <a:ext cx="3474720" cy="22402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2496312"/>
            <a:ext cx="54864" cy="191109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0768" y="2578608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CHALLENGE 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8620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경로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3291839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같은 데이터라도 비용 기준에 따라
좋은 전송 경로가 달라진다.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57400" y="5029200"/>
            <a:ext cx="8092440" cy="594360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0" y="5230368"/>
            <a:ext cx="7635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목표:  이산수학의 트리 · 부울대수 · 그래프를 실제 동작하는 웹앱에 연결한다.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02 /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데이터는 이렇게 이동합니다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브라우저에서 암호화한 .enc 패키지만 선택적으로 공유 서버로 전송합니다.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40664" y="2724912"/>
            <a:ext cx="329184" cy="329184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" y="2797332"/>
            <a:ext cx="329184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318211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원본 입력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5295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텍스트 / 파일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468879" y="3273552"/>
            <a:ext cx="393193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898648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44952" y="272491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2797332"/>
            <a:ext cx="329184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1528" y="318211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허프만 압축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1528" y="35295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빈도표와 트리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773168" y="3273552"/>
            <a:ext cx="393192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202936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49240" y="2724912"/>
            <a:ext cx="329184" cy="329184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9240" y="2797332"/>
            <a:ext cx="329184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85816" y="318211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XOR 암호화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85816" y="35295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SHA-256 키 재료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077456" y="3273552"/>
            <a:ext cx="393192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507224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653528" y="272491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53528" y="2797332"/>
            <a:ext cx="329184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90104" y="318211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.enc 패키지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0104" y="35295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메타데이터 + 암호문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381744" y="3273552"/>
            <a:ext cx="393192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811512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57816" y="2724912"/>
            <a:ext cx="329184" cy="329184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57816" y="2797332"/>
            <a:ext cx="329184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94392" y="318211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복호화·복원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94392" y="35295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무결성 검증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9808" y="4617720"/>
            <a:ext cx="4892040" cy="1005840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7552" y="48463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로컬 영역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11680" y="4828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원본 · 비밀 키 · 압축 · 복호화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89320" y="4617720"/>
            <a:ext cx="5349240" cy="1005840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36208" y="484632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85B"/>
                </a:solidFill>
                <a:latin typeface="Consolas"/>
              </a:rPr>
              <a:t>공유 선택 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07808" y="482803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Supabase에는 .enc 암호문과 최소 메타데이터만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03 / 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허프만 코딩: 빈도가 코드 길이를 결정한다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최소 힙으로 빈도가 가장 작은 두 노드를 반복 결합해 이진 트리를 만듭니다.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600200" y="2331720"/>
            <a:ext cx="1051560" cy="82296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52828" y="259689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51760" y="2331720"/>
            <a:ext cx="1143000" cy="82296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150108" y="259689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1005840" y="3154680"/>
            <a:ext cx="59436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229868" y="351129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600200" y="3154680"/>
            <a:ext cx="59436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24228" y="351129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3246120" y="3154680"/>
            <a:ext cx="54864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447288" y="351129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94760" y="3154680"/>
            <a:ext cx="59436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018787" y="351129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sp>
        <p:nvSpPr>
          <p:cNvPr id="59" name="Oval 58"/>
          <p:cNvSpPr/>
          <p:nvPr/>
        </p:nvSpPr>
        <p:spPr>
          <a:xfrm>
            <a:off x="2404872" y="2084831"/>
            <a:ext cx="493776" cy="493776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04872" y="2193462"/>
            <a:ext cx="493776" cy="222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10</a:t>
            </a:r>
          </a:p>
        </p:txBody>
      </p:sp>
      <p:sp>
        <p:nvSpPr>
          <p:cNvPr id="61" name="Oval 60"/>
          <p:cNvSpPr/>
          <p:nvPr/>
        </p:nvSpPr>
        <p:spPr>
          <a:xfrm>
            <a:off x="1353312" y="2907792"/>
            <a:ext cx="493776" cy="493776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53312" y="3016422"/>
            <a:ext cx="493776" cy="222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4</a:t>
            </a:r>
          </a:p>
        </p:txBody>
      </p:sp>
      <p:sp>
        <p:nvSpPr>
          <p:cNvPr id="63" name="Oval 62"/>
          <p:cNvSpPr/>
          <p:nvPr/>
        </p:nvSpPr>
        <p:spPr>
          <a:xfrm>
            <a:off x="3547872" y="2907792"/>
            <a:ext cx="493776" cy="493776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47872" y="3016422"/>
            <a:ext cx="493776" cy="222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6</a:t>
            </a:r>
          </a:p>
        </p:txBody>
      </p:sp>
      <p:sp>
        <p:nvSpPr>
          <p:cNvPr id="65" name="Oval 64"/>
          <p:cNvSpPr/>
          <p:nvPr/>
        </p:nvSpPr>
        <p:spPr>
          <a:xfrm>
            <a:off x="758952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8952" y="4022262"/>
            <a:ext cx="493776" cy="222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A:1</a:t>
            </a:r>
          </a:p>
        </p:txBody>
      </p:sp>
      <p:sp>
        <p:nvSpPr>
          <p:cNvPr id="67" name="Oval 66"/>
          <p:cNvSpPr/>
          <p:nvPr/>
        </p:nvSpPr>
        <p:spPr>
          <a:xfrm>
            <a:off x="1947672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47672" y="4022262"/>
            <a:ext cx="493776" cy="222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B:3</a:t>
            </a:r>
          </a:p>
        </p:txBody>
      </p:sp>
      <p:sp>
        <p:nvSpPr>
          <p:cNvPr id="69" name="Oval 68"/>
          <p:cNvSpPr/>
          <p:nvPr/>
        </p:nvSpPr>
        <p:spPr>
          <a:xfrm>
            <a:off x="2999232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99232" y="4022262"/>
            <a:ext cx="493776" cy="222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C:2</a:t>
            </a:r>
          </a:p>
        </p:txBody>
      </p:sp>
      <p:sp>
        <p:nvSpPr>
          <p:cNvPr id="71" name="Oval 70"/>
          <p:cNvSpPr/>
          <p:nvPr/>
        </p:nvSpPr>
        <p:spPr>
          <a:xfrm>
            <a:off x="4142231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42231" y="4022262"/>
            <a:ext cx="493776" cy="222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D:4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577840" y="24231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42431" y="2587752"/>
            <a:ext cx="54864" cy="204825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43600" y="26700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ALGORITHM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2953512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구성 과정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0" y="3383280"/>
            <a:ext cx="2011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1. 바이트 빈도 계산
2. 최소 힙에 삽입
3. 최소 두 노드 결합
4. 루트까지 반복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03920" y="24231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668512" y="2587752"/>
            <a:ext cx="54864" cy="204825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69680" y="26700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RESULT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2953512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특징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69680" y="3383280"/>
            <a:ext cx="2011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자주 등장하는 바이트
→ 짧은 비트열
모든 코드가 다른 코드의
접두어가 되지 않음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4400" y="5257800"/>
            <a:ext cx="10469880" cy="475488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43000" y="5458968"/>
            <a:ext cx="10012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예시: A = 00, B = 01, C = 10, D = 11  →  경계 표시 없이도 원문을 복원 가능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03 / BOOLEAN ALGEBRA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XOR: 같은 키를 두 번 적용하면 원래로 돌아온다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XOR의 자기역원 성질을 이용해 암호화와 복호화를 같은 연산으로 처리합니다.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2331720"/>
            <a:ext cx="10561320" cy="758952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2532888"/>
            <a:ext cx="1010412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A ⊕ K ⊕ K = A    ·    (A ⊕ K) ⊕ K = 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3429000"/>
            <a:ext cx="8458200" cy="429768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52958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C85B"/>
                </a:solidFill>
                <a:latin typeface="Malgun Gothic"/>
              </a:rPr>
              <a:t>압축 데이터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352044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F5F3"/>
                </a:solidFill>
                <a:latin typeface="Consolas"/>
              </a:rPr>
              <a:t>01001010 01100011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61872" y="3904487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8E0CB"/>
                </a:solidFill>
                <a:latin typeface="Consolas"/>
              </a:rPr>
              <a:t>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28800" y="4069080"/>
            <a:ext cx="8458200" cy="429768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416966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Malgun Gothic"/>
              </a:rPr>
              <a:t>SHA-256 키 재료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416052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F5F3"/>
                </a:solidFill>
                <a:latin typeface="Consolas"/>
              </a:rPr>
              <a:t>10110100 11001001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61872" y="45445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8E0CB"/>
                </a:solidFill>
                <a:latin typeface="Consolas"/>
              </a:rPr>
              <a:t>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28800" y="4709160"/>
            <a:ext cx="8458200" cy="429768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480974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977"/>
                </a:solidFill>
                <a:latin typeface="Malgun Gothic"/>
              </a:rPr>
              <a:t>암호문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48006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F5F3"/>
                </a:solidFill>
                <a:latin typeface="Consolas"/>
              </a:rPr>
              <a:t>11111110 10101010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55138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키 처리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65960" y="5486400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사용자가 입력한 키를 SHA-256으로 32바이트까지 확장한 뒤 반복 적용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04 / PACKAGE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Secure Message .enc 패키지와 무결성 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암호문만으로도 복호화에 필요한 압축 정보와 손상 검증 정보를 함께 전달합니다.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2743200"/>
            <a:ext cx="1691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8E0CB"/>
                </a:solidFill>
                <a:latin typeface="Consolas"/>
              </a:rPr>
              <a:t>SME1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3099816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식별자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53512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18104" y="2743200"/>
            <a:ext cx="1691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C85B"/>
                </a:solidFill>
                <a:latin typeface="Consolas"/>
              </a:rPr>
              <a:t>이름·MIME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18104" y="3099816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원본 정보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21224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85816" y="2743200"/>
            <a:ext cx="1691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8E0CB"/>
                </a:solidFill>
                <a:latin typeface="Consolas"/>
              </a:rPr>
              <a:t>빈도표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85816" y="3099816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허프만 트리 재구성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88936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53527" y="2743200"/>
            <a:ext cx="1691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977"/>
                </a:solidFill>
                <a:latin typeface="Consolas"/>
              </a:rPr>
              <a:t>SHA-256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7" y="3099816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원본 무결성 해시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56648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21240" y="2743200"/>
            <a:ext cx="1691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C85B"/>
                </a:solidFill>
                <a:latin typeface="Consolas"/>
              </a:rPr>
              <a:t>암호문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1240" y="3099816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XOR 처리된 압축 데이터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4343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복호화 검증 흐름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4892040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976530"/>
            <a:ext cx="38404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43584" y="495604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XOR 복호화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063239" y="5084064"/>
            <a:ext cx="411481" cy="0"/>
          </a:xfrm>
          <a:prstGeom prst="line">
            <a:avLst/>
          </a:prstGeom>
          <a:ln w="1905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520439" y="4892040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20439" y="4976530"/>
            <a:ext cx="38404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32504" y="495604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허프만 압축 해제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52159" y="5084064"/>
            <a:ext cx="411481" cy="0"/>
          </a:xfrm>
          <a:prstGeom prst="line">
            <a:avLst/>
          </a:prstGeom>
          <a:ln w="1905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6309359" y="4892040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59" y="4976530"/>
            <a:ext cx="38404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21423" y="495604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원본 SHA-256 계산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641080" y="5084064"/>
            <a:ext cx="411479" cy="0"/>
          </a:xfrm>
          <a:prstGeom prst="line">
            <a:avLst/>
          </a:prstGeom>
          <a:ln w="1905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098280" y="4892040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98280" y="4976530"/>
            <a:ext cx="38404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0344" y="495604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패키지 해시와 비교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03 / GRAPH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다익스트라: 가중치 합이 가장 작은 경로 찾기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정점은 서버, 간선은 연결, 가중치는 전송 시간 또는 위험도로 모델링했습니다.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1371600" y="2834639"/>
            <a:ext cx="1691639" cy="1280161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52828" y="309067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71600" y="4114800"/>
            <a:ext cx="1783079" cy="731520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098548" y="4096511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20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063239" y="2834639"/>
            <a:ext cx="91440" cy="201168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944368" y="345643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11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3063239" y="2697479"/>
            <a:ext cx="2103120" cy="137160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950207" y="2382011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9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3154679" y="2697479"/>
            <a:ext cx="2011680" cy="214884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995928" y="33878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16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154679" y="4754880"/>
            <a:ext cx="2423161" cy="91440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201668" y="44165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13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166359" y="2697479"/>
            <a:ext cx="411481" cy="205740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207507" y="334213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166359" y="2697479"/>
            <a:ext cx="2423161" cy="914400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13348" y="277063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18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577840" y="3611879"/>
            <a:ext cx="2011680" cy="114300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19088" y="379933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10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577840" y="3703320"/>
            <a:ext cx="4297680" cy="1051560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562088" y="38450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23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589520" y="3611879"/>
            <a:ext cx="2286000" cy="91441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567928" y="32735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8</a:t>
            </a:r>
          </a:p>
        </p:txBody>
      </p:sp>
      <p:sp>
        <p:nvSpPr>
          <p:cNvPr id="69" name="Oval 68"/>
          <p:cNvSpPr/>
          <p:nvPr/>
        </p:nvSpPr>
        <p:spPr>
          <a:xfrm>
            <a:off x="1097280" y="3840480"/>
            <a:ext cx="548640" cy="54864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961180"/>
            <a:ext cx="548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나</a:t>
            </a:r>
          </a:p>
        </p:txBody>
      </p:sp>
      <p:sp>
        <p:nvSpPr>
          <p:cNvPr id="71" name="Oval 70"/>
          <p:cNvSpPr/>
          <p:nvPr/>
        </p:nvSpPr>
        <p:spPr>
          <a:xfrm>
            <a:off x="2788920" y="2560320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88920" y="2681020"/>
            <a:ext cx="548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서울</a:t>
            </a:r>
          </a:p>
        </p:txBody>
      </p:sp>
      <p:sp>
        <p:nvSpPr>
          <p:cNvPr id="73" name="Oval 72"/>
          <p:cNvSpPr/>
          <p:nvPr/>
        </p:nvSpPr>
        <p:spPr>
          <a:xfrm>
            <a:off x="2880360" y="4572000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360" y="4692700"/>
            <a:ext cx="548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대전</a:t>
            </a:r>
          </a:p>
        </p:txBody>
      </p:sp>
      <p:sp>
        <p:nvSpPr>
          <p:cNvPr id="75" name="Oval 74"/>
          <p:cNvSpPr/>
          <p:nvPr/>
        </p:nvSpPr>
        <p:spPr>
          <a:xfrm>
            <a:off x="4892040" y="2423160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92040" y="2543860"/>
            <a:ext cx="548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인천</a:t>
            </a:r>
          </a:p>
        </p:txBody>
      </p:sp>
      <p:sp>
        <p:nvSpPr>
          <p:cNvPr id="77" name="Oval 76"/>
          <p:cNvSpPr/>
          <p:nvPr/>
        </p:nvSpPr>
        <p:spPr>
          <a:xfrm>
            <a:off x="5303520" y="4480560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03520" y="4601260"/>
            <a:ext cx="548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부산</a:t>
            </a:r>
          </a:p>
        </p:txBody>
      </p:sp>
      <p:sp>
        <p:nvSpPr>
          <p:cNvPr id="79" name="Oval 78"/>
          <p:cNvSpPr/>
          <p:nvPr/>
        </p:nvSpPr>
        <p:spPr>
          <a:xfrm>
            <a:off x="7315200" y="3337560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0" y="3458260"/>
            <a:ext cx="548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광주</a:t>
            </a:r>
          </a:p>
        </p:txBody>
      </p:sp>
      <p:sp>
        <p:nvSpPr>
          <p:cNvPr id="81" name="Oval 80"/>
          <p:cNvSpPr/>
          <p:nvPr/>
        </p:nvSpPr>
        <p:spPr>
          <a:xfrm>
            <a:off x="9601200" y="3429000"/>
            <a:ext cx="548640" cy="54864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01200" y="3549700"/>
            <a:ext cx="548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상대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7240" y="516636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41832" y="5330952"/>
            <a:ext cx="54864" cy="44805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43000" y="541324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MODEL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43000" y="5696712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시간 가중치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3000" y="6126480"/>
            <a:ext cx="2697480" cy="-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선 위 숫자는 ms. 합이 작은 경로를 선택.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34840" y="516636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599431" y="5330952"/>
            <a:ext cx="54864" cy="44805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00600" y="541324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MODEL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5696712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위험도 가중치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00600" y="6126480"/>
            <a:ext cx="2697480" cy="-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같은 그래프도 비용 정의에 따라 결과가 달라짐.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092440" y="516636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57031" y="5330952"/>
            <a:ext cx="54864" cy="44805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58200" y="541324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VISUALIZATION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58200" y="5696712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시연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58200" y="6126480"/>
            <a:ext cx="2697480" cy="-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선택 경로와 탐색 기록, 패킷 이동을 표시.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05 / 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웹앱에서 직접 확인할 수 있는 기능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입력-처리-시각화-공유가 하나의 흐름으로 연결됩니다.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331720"/>
            <a:ext cx="516636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" y="2496312"/>
            <a:ext cx="54864" cy="512064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257860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01 / FEATURE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86207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암호화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3291839"/>
            <a:ext cx="4572000" cy="-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텍스트/파일 입력, 25MB 제한, .enc 다운로드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2331720"/>
            <a:ext cx="516636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73952" y="2496312"/>
            <a:ext cx="54864" cy="512064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257860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02 / FEATURE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286207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복호화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3291839"/>
            <a:ext cx="4572000" cy="-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동일 키 입력, 해시 검증 후 원본 복원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3429000"/>
            <a:ext cx="516636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0392" y="3593592"/>
            <a:ext cx="54864" cy="512064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3675887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03 / FEATURE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" y="395935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전송 경로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4389120"/>
            <a:ext cx="4572000" cy="-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시간/위험도 선택, 가중치 수정과 비교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9360" y="3429000"/>
            <a:ext cx="516636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73952" y="3593592"/>
            <a:ext cx="54864" cy="512064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3675887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04 / FEATURE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395935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보안 분석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4389120"/>
            <a:ext cx="4572000" cy="-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원본과 암호문의 바이트 빈도 분포 비교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02152" y="4526279"/>
            <a:ext cx="516636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66744" y="4690871"/>
            <a:ext cx="54864" cy="512064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67912" y="4773167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05 / FEATURE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67912" y="5056631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공유 보관함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67912" y="5486399"/>
            <a:ext cx="4572000" cy="-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Supabase에 암호문만 업로드·수신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06 /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시연은 90초 안에 이렇게 진행합니다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짧은 문장 하나로 압축, 암호화, 공유, 복호화까지 보여 줄 수 있습니다.</a:t>
            </a:r>
          </a:p>
        </p:txBody>
      </p:sp>
      <p:sp>
        <p:nvSpPr>
          <p:cNvPr id="47" name="Oval 46"/>
          <p:cNvSpPr/>
          <p:nvPr/>
        </p:nvSpPr>
        <p:spPr>
          <a:xfrm>
            <a:off x="868680" y="2240280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2324770"/>
            <a:ext cx="38404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227685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입력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2295144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“이산수학으로 보낸 비밀 메시지”와 키 입력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60704" y="2633472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68680" y="2953512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3038002"/>
            <a:ext cx="38404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29900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암호화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0" y="300837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트리 생성, 압축 결과, SHA-256 키 표시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60704" y="3346704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68680" y="3666744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3751234"/>
            <a:ext cx="38404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63040" y="37033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다운로드/업로드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60320" y="3721607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.enc 파일 생성 또는 Supabase 보관함 업로드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60704" y="4059935"/>
            <a:ext cx="0" cy="274321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68680" y="4379976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4464466"/>
            <a:ext cx="38404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63040" y="441655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경로 계산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0320" y="443484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시간 또는 위험도 기준으로 다익스트라 실행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60704" y="4773168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868680" y="5093208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177698"/>
            <a:ext cx="38404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3040" y="512978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복호화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0" y="5148072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같은 키로 복원, 무결성 검증 통과 확인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60704" y="5486400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07 / 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보안상 의미 있는 점과 분명한 한계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교육용 구현의 범위를 정확히 밝히는 것이 더 안전한 시스템 설계의 출발점입니다.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42316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" y="2587752"/>
            <a:ext cx="54864" cy="204825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267004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WHAT IS PROTECTED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953512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보호되는 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3383280"/>
            <a:ext cx="2834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원본 파일과 비밀 키는
브라우저 내부에서 처리
서버에는 .enc 암호문과
최소 메타데이터만 저장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242316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53712" y="2587752"/>
            <a:ext cx="54864" cy="204825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0" y="267004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EDUCATIONAL LIMIT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953512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학습용 한계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3383280"/>
            <a:ext cx="2834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SHA-256 결과 32바이트를
반복 XOR하므로 실제 서비스의
인증 암호를 대체하지 못함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242316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57031" y="2587752"/>
            <a:ext cx="54864" cy="204825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58200" y="267004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NEXT STEP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2953512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실서비스 개선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3383280"/>
            <a:ext cx="2834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nonce/IV + AES-GCM
인증·권한 관리·업로드 제한
자동 삭제·감사 로그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34440" y="5303520"/>
            <a:ext cx="9738360" cy="530352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63040" y="5504688"/>
            <a:ext cx="9281160" cy="164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결론: “암호화했다”가 아니라 “어떤 위협을 막고, 무엇이 남는가”를 함께 설명한다.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CONCLUSION / SECURE 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10515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8E0CB"/>
                </a:solidFill>
                <a:latin typeface="Consolas"/>
              </a:rPr>
              <a:t>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1488" y="1033271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2C85B"/>
                </a:solidFill>
                <a:latin typeface="Consolas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10515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2C85B"/>
                </a:solidFill>
                <a:latin typeface="Consolas"/>
              </a:rPr>
              <a:t>XOR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1033271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F8977"/>
                </a:solidFill>
                <a:latin typeface="Consolas"/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10515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F8977"/>
                </a:solidFill>
                <a:latin typeface="Consolas"/>
              </a:rPr>
              <a:t>GRAPH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1874519"/>
            <a:ext cx="86868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AF5F3"/>
                </a:solidFill>
                <a:latin typeface="Malgun Gothic"/>
              </a:rPr>
              <a:t>수학의 구조를
“작동하는 보안 통신”으로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3520440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6C3C7"/>
                </a:solidFill>
                <a:latin typeface="Malgun Gothic"/>
              </a:rPr>
              <a:t>허프만 트리는 효율을, XOR은 기밀성의 원리를, 다익스트라는 전달의 최적화를 설명합니다.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4572000"/>
            <a:ext cx="10716768" cy="9144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" y="480060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발표 핵심 한 문장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06040" y="4754880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“데이터의 표현·변환·이동은 모두 이산수학적 구조로 모델링할 수 있다.”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8521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8E0CB"/>
                </a:solidFill>
                <a:latin typeface="Consolas"/>
              </a:rPr>
              <a:t>THANK YOU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