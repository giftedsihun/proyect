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IMPLEMENTATION WALKTHROUGH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10515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EAF5F3"/>
                </a:solidFill>
                <a:latin typeface="Consolas"/>
              </a:rPr>
              <a:t>SECURE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66420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58E0CB"/>
                </a:solidFill>
                <a:latin typeface="Consola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2487168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EAF5F3"/>
                </a:solidFill>
                <a:latin typeface="Malgun Gothic"/>
              </a:rPr>
              <a:t>코드로 이해하는 암호화 · 압축 · 복원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017520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이 프로그램이 실제로 어떤 순서로 데이터를 처리하는지 설명합니다.</a:t>
            </a:r>
          </a:p>
        </p:txBody>
      </p:sp>
      <p:sp>
        <p:nvSpPr>
          <p:cNvPr id="48" name="Oval 47"/>
          <p:cNvSpPr/>
          <p:nvPr/>
        </p:nvSpPr>
        <p:spPr>
          <a:xfrm>
            <a:off x="914400" y="4069080"/>
            <a:ext cx="621792" cy="621792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218310"/>
            <a:ext cx="621792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828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572768" y="4379976"/>
            <a:ext cx="1298448" cy="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2971800" y="4069080"/>
            <a:ext cx="621792" cy="621792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1800" y="4218310"/>
            <a:ext cx="621792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4828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AF5F3"/>
                </a:solidFill>
                <a:latin typeface="Malgun Gothic"/>
              </a:rPr>
              <a:t>허프만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30168" y="4379976"/>
            <a:ext cx="1298448" cy="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029200" y="4069080"/>
            <a:ext cx="621792" cy="621792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4218310"/>
            <a:ext cx="621792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4828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AF5F3"/>
                </a:solidFill>
                <a:latin typeface="Malgun Gothic"/>
              </a:rPr>
              <a:t>AES-GCM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87568" y="4379976"/>
            <a:ext cx="1298448" cy="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086600" y="4069080"/>
            <a:ext cx="621792" cy="621792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86600" y="4218310"/>
            <a:ext cx="621792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4828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AF5F3"/>
                </a:solidFill>
                <a:latin typeface="Malgun Gothic"/>
              </a:rPr>
              <a:t>.enc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744968" y="4379976"/>
            <a:ext cx="1298448" cy="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144000" y="4069080"/>
            <a:ext cx="621792" cy="621792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0" y="4218310"/>
            <a:ext cx="621792" cy="24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48280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AF5F3"/>
                </a:solidFill>
                <a:latin typeface="Malgun Gothic"/>
              </a:rPr>
              <a:t>복원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944" y="5504688"/>
            <a:ext cx="7543800" cy="566928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" y="5687568"/>
            <a:ext cx="7086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AF5F3"/>
                </a:solidFill>
                <a:latin typeface="Malgun Gothic"/>
              </a:rPr>
              <a:t>핵심: 원본과 비밀번호는 브라우저에서 처리하고, 공유 시 암호문만 보냅니다.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01 / PROJECT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이 프로그램은 무엇을 하나요?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정적 HTML/CSS/JavaScript 웹앱이며 서버 없이도 암호화와 복원이 동작합니다.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37744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542032"/>
            <a:ext cx="54864" cy="200253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62432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INPUT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89864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텍스트 또는 파일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310128"/>
            <a:ext cx="2907791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텍스트 또는 25MB 이하 파일을 읽어 Uint8Array 바이트 데이터로 변환합니다.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0832" y="237744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35424" y="2542032"/>
            <a:ext cx="54864" cy="200253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36592" y="262432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PROCESS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6592" y="289864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압축 후 암호화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6592" y="3310128"/>
            <a:ext cx="2907791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허프만 압축 → 키 유도 → AES-GCM 인증 암호화를 순서대로 적용합니다.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55864" y="237744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0456" y="2542032"/>
            <a:ext cx="54864" cy="200253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21624" y="262432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1624" y="289864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.enc 패키지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21624" y="3310128"/>
            <a:ext cx="2907791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복원에 필요한 메타데이터와 암호문을 SME2 형식 하나로 묶습니다.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43000" y="5166360"/>
            <a:ext cx="9875520" cy="521207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07592" y="5330952"/>
            <a:ext cx="45720" cy="192023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27048" y="5394960"/>
            <a:ext cx="9299448" cy="109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원본 입력  -&gt;  Huffman  -&gt;  PBKDF2  -&gt;  AES-256-GCM  -&gt;  SME2 .enc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02 / FILE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어느 파일이 어떤 역할을 하나요?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발표 중 코드 위치를 말할 때 이 구조를 기준으로 설명하면 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24028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404872"/>
            <a:ext cx="54864" cy="108813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48716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76148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index.html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172968"/>
            <a:ext cx="2907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암호화·복호화·분석·공유 보관함의 화면 구조와 입력 요소를 정의합니다.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0832" y="224028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35424" y="2404872"/>
            <a:ext cx="54864" cy="108813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36592" y="248716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LOGIC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6592" y="276148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script.js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36592" y="3172968"/>
            <a:ext cx="2907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허프만, AES-GCM, .enc 패키지, 그래프, Supabase 통신을 구현합니다.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55864" y="224028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0456" y="2404872"/>
            <a:ext cx="54864" cy="108813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21624" y="248716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STYLE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1624" y="276148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style.css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21624" y="3172968"/>
            <a:ext cx="2907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반응형 보안 대시보드 형태의 화면 디자인을 담당합니다.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32888" y="406908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97480" y="4233672"/>
            <a:ext cx="54864" cy="108813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98648" y="431596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DOCUMENT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98648" y="459028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PROJECT_OVERVIEW_KO.md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8648" y="5001768"/>
            <a:ext cx="2907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기능, 이산수학 연결, 보안 한계와 개발 계획을 설명합니다.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4069080"/>
            <a:ext cx="347472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82512" y="4233672"/>
            <a:ext cx="54864" cy="108813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4315968"/>
            <a:ext cx="290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PRESENTATION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590288"/>
            <a:ext cx="2907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presentation/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5001768"/>
            <a:ext cx="2907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기존 발표 자료, 포스터, 그리고 생성 Python 스크립트를 담고 있습니다.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ENCRYPT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암호화 버튼을 누르면 일어나는 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`encrypt()` 함수가 화면 상태와 데이터 처리 전체를 순서대로 제어합니다.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274320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290779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298679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33832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입력 읽기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텍스트/파일 → bytes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78608" y="345643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71216" y="274320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35808" y="290779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35808" y="298679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72384" y="33832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빈도 계산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72384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0~255 등장 횟수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82896" y="345643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175504" y="274320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0096" y="290779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0096" y="298679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6672" y="33832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허프만 압축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6672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비트열로 축소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87184" y="345643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479792" y="274320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644383" y="290779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44383" y="298679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33832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키 유도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PBKDF2 + salt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91472" y="345643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784080" y="274320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48672" y="290779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48672" y="298679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5248" y="33832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인증 암호화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85248" y="3703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AES-GCM + IV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4400" y="4773168"/>
            <a:ext cx="10287000" cy="768096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78992" y="4937759"/>
            <a:ext cx="45720" cy="438912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98448" y="5001768"/>
            <a:ext cx="9710928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encrypt()
  sourceFromInput() -&gt; buildHuffman() -&gt; compressHuffman() -&gt; deriveAesKey() -&gt; crypto.subtle.encrypt()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04 / DISCRETE MATH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빈도표와 허프만 트리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가장 직접적으로 구현된 이산수학: 도수표, 최소 힙, 이진 트리, 접두어 없는 코드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2331720"/>
            <a:ext cx="5212080" cy="1280160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" y="2496312"/>
            <a:ext cx="45720" cy="95097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2560320"/>
            <a:ext cx="463600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frequencyTable(bytes)
  frequencies[byte]++
buildHuffman(frequencies)
  최소 빈도 노드 2개를 반복 결합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2267712"/>
            <a:ext cx="4663440" cy="196596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4848" y="252374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작은 허프만 트리 예시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7571231" y="2944368"/>
            <a:ext cx="1225297" cy="786384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796528" y="2944368"/>
            <a:ext cx="1225296" cy="786384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567928" y="2706624"/>
            <a:ext cx="457200" cy="45720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67928" y="28163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10</a:t>
            </a:r>
          </a:p>
        </p:txBody>
      </p:sp>
      <p:sp>
        <p:nvSpPr>
          <p:cNvPr id="56" name="Oval 55"/>
          <p:cNvSpPr/>
          <p:nvPr/>
        </p:nvSpPr>
        <p:spPr>
          <a:xfrm>
            <a:off x="7342631" y="3511296"/>
            <a:ext cx="457200" cy="45720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42631" y="362102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A</a:t>
            </a:r>
          </a:p>
        </p:txBody>
      </p:sp>
      <p:sp>
        <p:nvSpPr>
          <p:cNvPr id="58" name="Oval 57"/>
          <p:cNvSpPr/>
          <p:nvPr/>
        </p:nvSpPr>
        <p:spPr>
          <a:xfrm>
            <a:off x="9793224" y="3511296"/>
            <a:ext cx="457200" cy="45720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93224" y="362102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31" y="31638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31638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396849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왼쪽 0 / 오른쪽 1을 따라가며 코드 생성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498848"/>
            <a:ext cx="3246120" cy="1115568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6112" y="4663440"/>
            <a:ext cx="54864" cy="78638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4745736"/>
            <a:ext cx="2679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WHY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502005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짧은 코드 배정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5431536"/>
            <a:ext cx="2679191" cy="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자주 등장한 바이트일수록 더 짧은 비트 코드를 받습니다.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62272" y="4498848"/>
            <a:ext cx="3246120" cy="1115568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26864" y="4663440"/>
            <a:ext cx="54864" cy="78638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28032" y="4745736"/>
            <a:ext cx="2679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PROPERTY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28032" y="502005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Prefix-free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28032" y="5431536"/>
            <a:ext cx="2679191" cy="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어떤 코드도 다른 코드의 앞부분이 아니어서 경계를 구분할 수 있습니다.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93024" y="4498848"/>
            <a:ext cx="3246120" cy="1115568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57616" y="4663440"/>
            <a:ext cx="54864" cy="786384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58784" y="4745736"/>
            <a:ext cx="2679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RESTORE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58784" y="5020056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동일 트리 재생성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58784" y="5431536"/>
            <a:ext cx="2679191" cy="18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패키지에 저장한 빈도표로 복호화 시 같은 트리를 다시 만듭니다.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05 / BINARY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압축 데이터는 어떻게 .enc에 담기나요?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문자열이 아니라 바이트 배열과 DataView를 이용해 순서가 정해진 이진 패키지를 만듭니다.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606040"/>
            <a:ext cx="1920240" cy="11430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2852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E0CB"/>
                </a:solidFill>
                <a:latin typeface="Consolas"/>
              </a:rPr>
              <a:t>SME2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32278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형식 식별자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8648" y="2606040"/>
            <a:ext cx="1920240" cy="11430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3240" y="2852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85B"/>
                </a:solidFill>
                <a:latin typeface="Consolas"/>
              </a:rPr>
              <a:t>이름/MIME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32278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원본 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02936" y="2606040"/>
            <a:ext cx="1920240" cy="11430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67528" y="2852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E0CB"/>
                </a:solidFill>
                <a:latin typeface="Consolas"/>
              </a:rPr>
              <a:t>빈도표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67528" y="32278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트리 재구성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224" y="2606040"/>
            <a:ext cx="1920240" cy="11430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71816" y="2852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8977"/>
                </a:solidFill>
                <a:latin typeface="Consolas"/>
              </a:rPr>
              <a:t>salt/IV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71816" y="32278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키·암호화 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11512" y="2606040"/>
            <a:ext cx="1920240" cy="11430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76104" y="2852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85B"/>
                </a:solidFill>
                <a:latin typeface="Consolas"/>
              </a:rPr>
              <a:t>암호문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6104" y="322783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태그 포함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2688" y="4370832"/>
            <a:ext cx="10222992" cy="841248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7280" y="4535424"/>
            <a:ext cx="45720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16736" y="4599432"/>
            <a:ext cx="964691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makeAesHeader(...)  -&gt;  [SME2 | metadata | frequency table | salt | IV]
makeAesPackage(header, encrypted)  -&gt;  header + AES-GCM ciphertext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5468112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복호화 시 parseAesPackage()가 같은 순서로 헤더를 읽습니다.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06 /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기본 보안: PBKDF2 + AES-256-GCM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XOR은 비교 학습용이며, 실제 기본 모드는 인증 암호화인 AES-GCM입니다.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246888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263347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271247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31089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비밀번호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34290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사용자 입력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78608" y="318211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71216" y="246888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35808" y="263347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35808" y="271247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72384" y="31089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새 salt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72384" y="34290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매번 16 bytes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82896" y="318211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175504" y="246888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0096" y="263347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0096" y="271247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6672" y="31089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PBKDF2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6672" y="34290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SHA-256 250,000회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87184" y="318211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479792" y="246888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644383" y="263347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44383" y="271247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31089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새 IV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4290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매번 12 bytes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91472" y="318211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784080" y="246888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48672" y="263347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48672" y="271247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5248" y="310896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AES-GCM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85248" y="34290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암호화 + 인증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" y="4407408"/>
            <a:ext cx="10405872" cy="786384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33271" y="4572000"/>
            <a:ext cx="45720" cy="457200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52728" y="4636008"/>
            <a:ext cx="98298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deriveAesKey(password, salt)
crypto.subtle.encrypt({ name: "AES-GCM", iv, additionalData: header }, key, compressedBytes)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80160" y="5449824"/>
            <a:ext cx="9601200" cy="429768"/>
          </a:xfrm>
          <a:prstGeom prst="roundRect">
            <a:avLst>
              <a:gd name="adj" fmla="val 7000"/>
            </a:avLst>
          </a:prstGeom>
          <a:solidFill>
            <a:srgbClr val="162F37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36192" y="55778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F5F3"/>
                </a:solidFill>
                <a:latin typeface="Malgun Gothic"/>
              </a:rPr>
              <a:t>header를 AAD로 함께 인증: 암호문뿐 아니라 파일 이름·빈도표 등 헤더 변조도 감지합니다.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07 / DECRYPT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복호화는 왜 안전하게 실패하나요?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AES-GCM 인증 검증을 먼저 통과해야만 압축 해제와 원본 복원이 진행됩니다.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256032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280391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32004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.enc 읽기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3520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parsePackage()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78608" y="327355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71216" y="256032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35808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35808" y="280391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72384" y="32004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헤더 해석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72384" y="3520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salt/IV/빈도표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82896" y="327355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175504" y="256032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0096" y="272491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0096" y="280391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6672" y="32004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키 재생성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6672" y="3520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같은 PBKDF2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187184" y="327355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479792" y="256032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644383" y="272491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44383" y="280391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32004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GCM 검증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520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실패 시 즉시 중단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91472" y="3273552"/>
            <a:ext cx="237744" cy="0"/>
          </a:xfrm>
          <a:prstGeom prst="line">
            <a:avLst/>
          </a:prstGeom>
          <a:ln w="2286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784080" y="2560320"/>
            <a:ext cx="201168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48672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48672" y="2803916"/>
            <a:ext cx="329184" cy="1316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Consolas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5248" y="32004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압축 해제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85248" y="3520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6C3C7"/>
                </a:solidFill>
                <a:latin typeface="Malgun Gothic"/>
              </a:rPr>
              <a:t>원본 bytes 복원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" y="4535424"/>
            <a:ext cx="10442448" cy="822960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33271" y="4700016"/>
            <a:ext cx="45720" cy="49377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52728" y="4764024"/>
            <a:ext cx="9866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crypto.subtle.decrypt({ name: "AES-GCM", iv: pack.iv, additionalData: pack.aad }, key, pack.encrypted)
-&gt; decompressHuffman(compressed, pack.bitLength, buildHuffman(pack.frequencies), pack.originalSize)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5650992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8977"/>
                </a:solidFill>
                <a:latin typeface="Malgun Gothic"/>
              </a:rPr>
              <a:t>잘못된 비밀번호 또는 바뀐 파일/헤더 -&gt; "AES-GCM 인증 검증에 실패" -&gt; 복원하지 않음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08 / LEARNING MODE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XOR과 바이트 분포 분석은 무엇을 보여주나요?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XOR은 부울대수 원리 비교용, 그래프는 바이트 값 0~255의 빈도 차이 관찰용입니다.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286000"/>
            <a:ext cx="5120640" cy="1051560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450592"/>
            <a:ext cx="45720" cy="722375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2514600"/>
            <a:ext cx="45445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xorBytes(data, key)
  result[i] = data[i] ^ key[i % key.length]
A XOR K XOR K = 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3840480"/>
            <a:ext cx="333756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005072"/>
            <a:ext cx="54864" cy="108813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4087368"/>
            <a:ext cx="2770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XOR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4361688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자기역원 성질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4773168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같은 키를 두 번 XOR하면 원래 바이트로 돌아오는 부울대수 성질을 확인합니다.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3840480"/>
            <a:ext cx="333756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99431" y="4005072"/>
            <a:ext cx="54864" cy="108813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4087368"/>
            <a:ext cx="2770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4361688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바이트 빈도 분포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4773168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frequencyTable() 결과를 Canvas 막대그래프로 그려 원본과 암호문을 비교합니다.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840480"/>
            <a:ext cx="3337560" cy="141732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48471" y="4005072"/>
            <a:ext cx="54864" cy="108813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4087368"/>
            <a:ext cx="2770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WARNING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4361688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실제 보호용 아님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4773168"/>
            <a:ext cx="2770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반복 XOR은 취약합니다. 새 파일 생성의 기본값은 AES-GCM입니다.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68756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Consolas"/>
              </a:rPr>
              <a:t>관련 함수: xorBytes(), drawDistribution(), renderAnalysis()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09 / SHARING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Supabase 공유는 무엇을 보내고 무엇을 보내지 않나요?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공유는 선택 기능이며, 브라우저가 암호화를 끝낸 후 .enc 패키지만 업로드합니다.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2377440"/>
            <a:ext cx="4983480" cy="2286000"/>
          </a:xfrm>
          <a:prstGeom prst="roundRect">
            <a:avLst>
              <a:gd name="adj" fmla="val 7000"/>
            </a:avLst>
          </a:prstGeom>
          <a:solidFill>
            <a:srgbClr val="1238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" y="269748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E0CB"/>
                </a:solidFill>
                <a:latin typeface="Malgun Gothic"/>
              </a:rPr>
              <a:t>브라우저 안에 남는 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3145536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원본 파일
비밀번호
압축 전·후 데이터
AES 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28232" y="2377440"/>
            <a:ext cx="4983480" cy="2286000"/>
          </a:xfrm>
          <a:prstGeom prst="roundRect">
            <a:avLst>
              <a:gd name="adj" fmla="val 7000"/>
            </a:avLst>
          </a:prstGeom>
          <a:solidFill>
            <a:srgbClr val="332D2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9984" y="26974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85B"/>
                </a:solidFill>
                <a:latin typeface="Malgun Gothic"/>
              </a:rPr>
              <a:t>Supabase에 올라가는 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9984" y="3145536"/>
            <a:ext cx="3291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.enc 암호문 패키지
표시 이름
패키지 크기
만료 시각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779008" y="3520440"/>
            <a:ext cx="621792" cy="0"/>
          </a:xfrm>
          <a:prstGeom prst="line">
            <a:avLst/>
          </a:prstGeom>
          <a:ln w="317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733288" y="318211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8E0CB"/>
                </a:solidFill>
                <a:latin typeface="Consolas"/>
              </a:rPr>
              <a:t>업로드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" y="5120640"/>
            <a:ext cx="10149840" cy="502920"/>
          </a:xfrm>
          <a:prstGeom prst="roundRect">
            <a:avLst>
              <a:gd name="adj" fmla="val 7000"/>
            </a:avLst>
          </a:prstGeom>
          <a:solidFill>
            <a:srgbClr val="0A202C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0432" y="5285231"/>
            <a:ext cx="45720" cy="17373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89888" y="5349240"/>
            <a:ext cx="9573767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F3EB"/>
                </a:solidFill>
                <a:latin typeface="Consolas"/>
              </a:rPr>
              <a:t>uploadEncryptedPackage() -&gt; /storage/v1/object/...   +   /rest/v1/secure_messages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CODE EXPLAINED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10 / PRESENTATION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5F3"/>
                </a:solidFill>
                <a:latin typeface="Malgun Gothic"/>
              </a:rPr>
              <a:t>발표에서 정확하게 말해야 할 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00784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코드에 실제로 있는 기능과, 단지 사례로만 남은 내용을 구분하는 것이 중요합니다.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377440"/>
            <a:ext cx="5257800" cy="25146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" y="2542032"/>
            <a:ext cx="54864" cy="218541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2624328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IMPLEMENTED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898648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실제로 구현됨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310128"/>
            <a:ext cx="469087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허프만 이진 트리와 최소 힙
바이트 빈도표와 Canvas 그래프
PBKDF2 + AES-256-GCM
SME2 .enc 패키지와 인증 복호화
Supabase 암호문 공유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5352" y="2377440"/>
            <a:ext cx="5257800" cy="251460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9944" y="2542032"/>
            <a:ext cx="54864" cy="218541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1112" y="2624328"/>
            <a:ext cx="4690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NOT IN CURRENT 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2898648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실제 앱 기능은 아님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1112" y="3310128"/>
            <a:ext cx="469087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다익스트라 최단 경로 계산
서버 간 패킷 전송 시뮬레이션
네트워크 경로 제어
발표 자료의 현실 사례로만 설명해야 합니다.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5394960"/>
            <a:ext cx="9966960" cy="429768"/>
          </a:xfrm>
          <a:prstGeom prst="roundRect">
            <a:avLst>
              <a:gd name="adj" fmla="val 7000"/>
            </a:avLst>
          </a:prstGeom>
          <a:solidFill>
            <a:srgbClr val="162F37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44168" y="5522976"/>
            <a:ext cx="9464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F5F3"/>
                </a:solidFill>
                <a:latin typeface="Malgun Gothic"/>
              </a:rPr>
              <a:t>한 문장: "이 앱은 트리·빈도표·XOR을 학습에 연결하고, AES-GCM으로 실제 암호화를 구현했습니다."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5603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CONCLUSION / SECURE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60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CODE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10241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58E0CB"/>
                </a:solidFill>
                <a:latin typeface="Consolas"/>
              </a:rPr>
              <a:t>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100584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2C85B"/>
                </a:solidFill>
                <a:latin typeface="Consola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102412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2C85B"/>
                </a:solidFill>
                <a:latin typeface="Consolas"/>
              </a:rPr>
              <a:t>DISCRETE MATH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100584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F8977"/>
                </a:solidFill>
                <a:latin typeface="Consola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102412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F8977"/>
                </a:solidFill>
                <a:latin typeface="Consolas"/>
              </a:rPr>
              <a:t>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1828800"/>
            <a:ext cx="9875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EAF5F3"/>
                </a:solidFill>
                <a:latin typeface="Malgun Gothic"/>
              </a:rPr>
              <a:t>코드의 흐름을 이해하면
이산수학이 기능이 되는 과정이 보입니다.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794760"/>
            <a:ext cx="10698480" cy="1234440"/>
          </a:xfrm>
          <a:prstGeom prst="roundRect">
            <a:avLst>
              <a:gd name="adj" fmla="val 7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408736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핵심 정리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023360"/>
            <a:ext cx="8458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빈도표와 트리는 압축을, PBKDF2와 AES-GCM은 보호를, .enc 패키지는 안전한 전달을 담당합니다.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8E0CB"/>
                </a:solidFill>
                <a:latin typeface="Consolas"/>
              </a:rPr>
              <a:t>감사합니다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656539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실제 구현 기준: 허프만 트리 + PBKDF2 + AES-256-GCM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